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Acces a l'electricite (% de la population)</a:t>
            </a:r>
          </a:p>
        </c:rich>
      </c:tx>
      <c:layout/>
      <c:overlay val="0"/>
    </c:title>
    <c:autoTitleDeleted val="0"/>
    <c:plotArea>
      <c:layout/>
      <c:lineChart>
        <c:varyColors val="0"/>
        <c:ser>
          <c:idx val="0"/>
          <c:order val="0"/>
          <c:tx>
            <c:strRef>
              <c:f>Sheet1!$B$1</c:f>
              <c:strCache>
                <c:ptCount val="1"/>
                <c:pt idx="0">
                  <c:v>Urbain</c:v>
                </c:pt>
              </c:strCache>
            </c:strRef>
          </c:tx>
          <c:spPr>
            <a:solidFill>
              <a:srgbClr val="2C5F2D"/>
            </a:solidFill>
            <a:ln w="31750" cap="flat">
              <a:solidFill>
                <a:srgbClr val="2C5F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C5F2D"/>
              </a:solidFill>
              <a:ln w="9525" cap="flat">
                <a:solidFill>
                  <a:srgbClr val="2C5F2D"/>
                </a:solidFill>
                <a:prstDash val="solid"/>
                <a:round/>
              </a:ln>
              <a:effectLst/>
            </c:spPr>
          </c:marker>
          <c:cat>
            <c:multiLvlStrRef>
              <c:f>Sheet1!$A$2:$A$14</c:f>
              <c:multiLvlStrCache>
                <c:ptCount val="13"/>
                <c:lvl>
                  <c:pt idx="0">
                    <c:v>1998</c:v>
                  </c:pt>
                  <c:pt idx="1">
                    <c:v>2000</c:v>
                  </c:pt>
                  <c:pt idx="2">
                    <c:v>2002</c:v>
                  </c:pt>
                  <c:pt idx="3">
                    <c:v>2004</c:v>
                  </c:pt>
                  <c:pt idx="4">
                    <c:v>2006</c:v>
                  </c:pt>
                  <c:pt idx="5">
                    <c:v>2008</c:v>
                  </c:pt>
                  <c:pt idx="6">
                    <c:v>2010</c:v>
                  </c:pt>
                  <c:pt idx="7">
                    <c:v>2012</c:v>
                  </c:pt>
                  <c:pt idx="8">
                    <c:v>2014</c:v>
                  </c:pt>
                  <c:pt idx="9">
                    <c:v>2016</c:v>
                  </c:pt>
                  <c:pt idx="10">
                    <c:v>2018</c:v>
                  </c:pt>
                  <c:pt idx="11">
                    <c:v>2020</c:v>
                  </c:pt>
                  <c:pt idx="12">
                    <c:v>2022</c:v>
                  </c:pt>
                </c:lvl>
              </c:multiLvlStrCache>
            </c:multiLvlStrRef>
          </c:cat>
          <c:val>
            <c:numRef>
              <c:f>Sheet1!$B$2:$B$14</c:f>
              <c:numCache>
                <c:formatCode>General</c:formatCode>
                <c:ptCount val="13"/>
                <c:pt idx="0">
                  <c:v>41.2</c:v>
                </c:pt>
                <c:pt idx="1">
                  <c:v>38.5</c:v>
                </c:pt>
                <c:pt idx="2">
                  <c:v>50.2</c:v>
                </c:pt>
                <c:pt idx="3">
                  <c:v>55</c:v>
                </c:pt>
                <c:pt idx="4">
                  <c:v>64.9</c:v>
                </c:pt>
                <c:pt idx="5">
                  <c:v>64.7</c:v>
                </c:pt>
                <c:pt idx="6">
                  <c:v>66.5</c:v>
                </c:pt>
                <c:pt idx="7">
                  <c:v>76.3</c:v>
                </c:pt>
                <c:pt idx="8">
                  <c:v>83.2</c:v>
                </c:pt>
                <c:pt idx="9">
                  <c:v>84.4</c:v>
                </c:pt>
                <c:pt idx="10">
                  <c:v>83.1</c:v>
                </c:pt>
                <c:pt idx="11">
                  <c:v>94</c:v>
                </c:pt>
                <c:pt idx="12">
                  <c:v>96.5</c:v>
                </c:pt>
              </c:numCache>
            </c:numRef>
          </c:val>
          <c:smooth val="0"/>
        </c:ser>
        <c:ser>
          <c:idx val="1"/>
          <c:order val="1"/>
          <c:tx>
            <c:strRef>
              <c:f>Sheet1!$C$1</c:f>
              <c:strCache>
                <c:ptCount val="1"/>
                <c:pt idx="0">
                  <c:v>Rural</c:v>
                </c:pt>
              </c:strCache>
            </c:strRef>
          </c:tx>
          <c:spPr>
            <a:solidFill>
              <a:srgbClr val="C1440E"/>
            </a:solidFill>
            <a:ln w="31750" cap="flat">
              <a:solidFill>
                <a:srgbClr val="C1440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1440E"/>
              </a:solidFill>
              <a:ln w="9525" cap="flat">
                <a:solidFill>
                  <a:srgbClr val="C1440E"/>
                </a:solidFill>
                <a:prstDash val="solid"/>
                <a:round/>
              </a:ln>
              <a:effectLst/>
            </c:spPr>
          </c:marker>
          <c:cat>
            <c:multiLvlStrRef>
              <c:f>Sheet1!$A$2:$A$14</c:f>
              <c:multiLvlStrCache>
                <c:ptCount val="13"/>
                <c:lvl>
                  <c:pt idx="0">
                    <c:v>1998</c:v>
                  </c:pt>
                  <c:pt idx="1">
                    <c:v>2000</c:v>
                  </c:pt>
                  <c:pt idx="2">
                    <c:v>2002</c:v>
                  </c:pt>
                  <c:pt idx="3">
                    <c:v>2004</c:v>
                  </c:pt>
                  <c:pt idx="4">
                    <c:v>2006</c:v>
                  </c:pt>
                  <c:pt idx="5">
                    <c:v>2008</c:v>
                  </c:pt>
                  <c:pt idx="6">
                    <c:v>2010</c:v>
                  </c:pt>
                  <c:pt idx="7">
                    <c:v>2012</c:v>
                  </c:pt>
                  <c:pt idx="8">
                    <c:v>2014</c:v>
                  </c:pt>
                  <c:pt idx="9">
                    <c:v>2016</c:v>
                  </c:pt>
                  <c:pt idx="10">
                    <c:v>2018</c:v>
                  </c:pt>
                  <c:pt idx="11">
                    <c:v>2020</c:v>
                  </c:pt>
                  <c:pt idx="12">
                    <c:v>2022</c:v>
                  </c:pt>
                </c:lvl>
              </c:multiLvlStrCache>
            </c:multiLvlStrRef>
          </c:cat>
          <c:val>
            <c:numRef>
              <c:f>Sheet1!$C$2:$C$14</c:f>
              <c:numCache>
                <c:formatCode>General</c:formatCode>
                <c:ptCount val="13"/>
                <c:pt idx="0">
                  <c:v>3.1</c:v>
                </c:pt>
                <c:pt idx="1">
                  <c:v>6.4</c:v>
                </c:pt>
                <c:pt idx="2">
                  <c:v>6.5</c:v>
                </c:pt>
                <c:pt idx="3">
                  <c:v>8.7</c:v>
                </c:pt>
                <c:pt idx="4">
                  <c:v>7.4</c:v>
                </c:pt>
                <c:pt idx="5">
                  <c:v>12.9</c:v>
                </c:pt>
                <c:pt idx="6">
                  <c:v>9.3</c:v>
                </c:pt>
                <c:pt idx="7">
                  <c:v>15.8</c:v>
                </c:pt>
                <c:pt idx="8">
                  <c:v>21.1</c:v>
                </c:pt>
                <c:pt idx="9">
                  <c:v>21</c:v>
                </c:pt>
                <c:pt idx="10">
                  <c:v>26.3</c:v>
                </c:pt>
                <c:pt idx="11">
                  <c:v>24.3</c:v>
                </c:pt>
                <c:pt idx="12">
                  <c:v>25</c:v>
                </c:pt>
              </c:numCache>
            </c:numRef>
          </c:val>
          <c:smooth val="0"/>
        </c:ser>
        <c:ser>
          <c:idx val="2"/>
          <c:order val="2"/>
          <c:tx>
            <c:strRef>
              <c:f>Sheet1!$D$1</c:f>
              <c:strCache>
                <c:ptCount val="1"/>
                <c:pt idx="0">
                  <c:v>National</c:v>
                </c:pt>
              </c:strCache>
            </c:strRef>
          </c:tx>
          <c:spPr>
            <a:solidFill>
              <a:srgbClr val="97BC62"/>
            </a:solidFill>
            <a:ln w="31750" cap="flat">
              <a:solidFill>
                <a:srgbClr val="97BC6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7BC62"/>
              </a:solidFill>
              <a:ln w="9525" cap="flat">
                <a:solidFill>
                  <a:srgbClr val="97BC62"/>
                </a:solidFill>
                <a:prstDash val="solid"/>
                <a:round/>
              </a:ln>
              <a:effectLst/>
            </c:spPr>
          </c:marker>
          <c:cat>
            <c:multiLvlStrRef>
              <c:f>Sheet1!$A$2:$A$14</c:f>
              <c:multiLvlStrCache>
                <c:ptCount val="13"/>
                <c:lvl>
                  <c:pt idx="0">
                    <c:v>1998</c:v>
                  </c:pt>
                  <c:pt idx="1">
                    <c:v>2000</c:v>
                  </c:pt>
                  <c:pt idx="2">
                    <c:v>2002</c:v>
                  </c:pt>
                  <c:pt idx="3">
                    <c:v>2004</c:v>
                  </c:pt>
                  <c:pt idx="4">
                    <c:v>2006</c:v>
                  </c:pt>
                  <c:pt idx="5">
                    <c:v>2008</c:v>
                  </c:pt>
                  <c:pt idx="6">
                    <c:v>2010</c:v>
                  </c:pt>
                  <c:pt idx="7">
                    <c:v>2012</c:v>
                  </c:pt>
                  <c:pt idx="8">
                    <c:v>2014</c:v>
                  </c:pt>
                  <c:pt idx="9">
                    <c:v>2016</c:v>
                  </c:pt>
                  <c:pt idx="10">
                    <c:v>2018</c:v>
                  </c:pt>
                  <c:pt idx="11">
                    <c:v>2020</c:v>
                  </c:pt>
                  <c:pt idx="12">
                    <c:v>2022</c:v>
                  </c:pt>
                </c:lvl>
              </c:multiLvlStrCache>
            </c:multiLvlStrRef>
          </c:cat>
          <c:val>
            <c:numRef>
              <c:f>Sheet1!$D$2:$D$14</c:f>
              <c:numCache>
                <c:formatCode>General</c:formatCode>
                <c:ptCount val="13"/>
                <c:pt idx="0">
                  <c:v>15.3</c:v>
                </c:pt>
                <c:pt idx="1">
                  <c:v>17</c:v>
                </c:pt>
                <c:pt idx="2">
                  <c:v>21.3</c:v>
                </c:pt>
                <c:pt idx="3">
                  <c:v>24.8</c:v>
                </c:pt>
                <c:pt idx="4">
                  <c:v>27.9</c:v>
                </c:pt>
                <c:pt idx="5">
                  <c:v>31.8</c:v>
                </c:pt>
                <c:pt idx="6">
                  <c:v>30.8</c:v>
                </c:pt>
                <c:pt idx="7">
                  <c:v>39.1</c:v>
                </c:pt>
                <c:pt idx="8">
                  <c:v>45.7</c:v>
                </c:pt>
                <c:pt idx="9">
                  <c:v>46.8</c:v>
                </c:pt>
                <c:pt idx="10">
                  <c:v>50</c:v>
                </c:pt>
                <c:pt idx="11">
                  <c:v>54.1</c:v>
                </c:pt>
                <c:pt idx="12">
                  <c:v>57.2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5E5"/>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Principal combustible de cuisson (2017)</a:t>
            </a:r>
          </a:p>
        </c:rich>
      </c:tx>
      <c:layout/>
      <c:overlay val="0"/>
    </c:title>
    <c:autoTitleDeleted val="0"/>
    <c:plotArea>
      <c:layout/>
      <c:barChart>
        <c:barDir val="col"/>
        <c:grouping val="clustered"/>
        <c:varyColors val="0"/>
        <c:ser>
          <c:idx val="0"/>
          <c:order val="0"/>
          <c:tx>
            <c:strRef>
              <c:f>Sheet1!$B$1</c:f>
              <c:strCache>
                <c:ptCount val="1"/>
                <c:pt idx="0">
                  <c:v>Part des menages (%)</c:v>
                </c:pt>
              </c:strCache>
            </c:strRef>
          </c:tx>
          <c:spPr>
            <a:solidFill>
              <a:srgbClr val="8B5A2B"/>
            </a:solidFill>
            <a:effectLst/>
          </c:spPr>
          <c:invertIfNegative val="0"/>
          <c:dLbls>
            <c:numFmt formatCode="#,##0" sourceLinked="0"/>
            <c:txPr>
              <a:bodyPr/>
              <a:lstStyle/>
              <a:p>
                <a:pPr>
                  <a:defRPr b="0" i="0" strike="noStrike" sz="1300" u="none">
                    <a:solidFill>
                      <a:srgbClr val="2B2B2B"/>
                    </a:solidFill>
                    <a:latin typeface="Arial"/>
                  </a:defRPr>
                </a:pPr>
              </a:p>
            </c:txPr>
            <c:showLegendKey val="0"/>
            <c:showVal val="1"/>
            <c:showCatName val="0"/>
            <c:showSerName val="0"/>
            <c:showPercent val="0"/>
            <c:showBubbleSize val="0"/>
            <c:showLeaderLines val="0"/>
          </c:dLbls>
          <c:dPt>
            <c:idx val="0"/>
            <c:invertIfNegative val="0"/>
            <c:bubble3D val="0"/>
            <c:spPr>
              <a:solidFill>
                <a:srgbClr val="8B5A2B"/>
              </a:solidFill>
              <a:effectLst/>
            </c:spPr>
          </c:dPt>
          <c:dPt>
            <c:idx val="1"/>
            <c:invertIfNegative val="0"/>
            <c:bubble3D val="0"/>
            <c:spPr>
              <a:solidFill>
                <a:srgbClr val="4D4D4D"/>
              </a:solidFill>
              <a:effectLst/>
            </c:spPr>
          </c:dPt>
          <c:dPt>
            <c:idx val="2"/>
            <c:invertIfNegative val="0"/>
            <c:bubble3D val="0"/>
            <c:spPr>
              <a:solidFill>
                <a:srgbClr val="97BC62"/>
              </a:solidFill>
              <a:effectLst/>
            </c:spPr>
          </c:dPt>
          <c:cat>
            <c:multiLvlStrRef>
              <c:f>Sheet1!$A$2:$A$4</c:f>
              <c:multiLvlStrCache>
                <c:ptCount val="3"/>
                <c:lvl>
                  <c:pt idx="0">
                    <c:v>Bois</c:v>
                  </c:pt>
                  <c:pt idx="1">
                    <c:v>Charbon</c:v>
                  </c:pt>
                  <c:pt idx="2">
                    <c:v>Gaz / LPG</c:v>
                  </c:pt>
                </c:lvl>
              </c:multiLvlStrCache>
            </c:multiLvlStrRef>
          </c:cat>
          <c:val>
            <c:numRef>
              <c:f>Sheet1!$B$2:$B$4</c:f>
              <c:numCache>
                <c:formatCode>General</c:formatCode>
                <c:ptCount val="3"/>
                <c:pt idx="0">
                  <c:v>51.8</c:v>
                </c:pt>
                <c:pt idx="1">
                  <c:v>37.6</c:v>
                </c:pt>
                <c:pt idx="2">
                  <c:v>8.8</c:v>
                </c:pt>
              </c:numCache>
            </c:numRef>
          </c:val>
        </c:ser>
        <c:dLbls>
          <c:numFmt formatCode="#,##0" sourceLinked="0"/>
          <c:txPr>
            <a:bodyPr/>
            <a:lstStyle/>
            <a:p>
              <a:pPr>
                <a:defRPr b="0" i="0" strike="noStrike" sz="1300" u="none">
                  <a:solidFill>
                    <a:srgbClr val="2B2B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Repartition des emissions de GES par secteur (2018)</a:t>
            </a:r>
          </a:p>
        </c:rich>
      </c:tx>
      <c:layout/>
      <c:overlay val="0"/>
    </c:title>
    <c:autoTitleDeleted val="0"/>
    <c:plotArea>
      <c:layout/>
      <c:pieChart>
        <c:varyColors val="1"/>
        <c:ser>
          <c:idx val="0"/>
          <c:order val="0"/>
          <c:tx>
            <c:strRef>
              <c:f>Sheet1!$B$1</c:f>
              <c:strCache>
                <c:ptCount val="1"/>
                <c:pt idx="0">
                  <c:v>Emissions GES 2018</c:v>
                </c:pt>
              </c:strCache>
            </c:strRef>
          </c:tx>
          <c:spPr>
            <a:solidFill>
              <a:schemeClr val="accent1"/>
            </a:solidFill>
            <a:ln w="9525" cap="flat">
              <a:solidFill>
                <a:srgbClr val="F9F9F9"/>
              </a:solidFill>
              <a:prstDash val="solid"/>
              <a:round/>
            </a:ln>
            <a:effectLst/>
          </c:spPr>
          <c:dPt>
            <c:idx val="0"/>
            <c:bubble3D val="0"/>
            <c:spPr>
              <a:solidFill>
                <a:srgbClr val="2C5F2D"/>
              </a:solidFill>
              <a:effectLst/>
            </c:spPr>
          </c:dPt>
          <c:dPt>
            <c:idx val="1"/>
            <c:bubble3D val="0"/>
            <c:spPr>
              <a:solidFill>
                <a:srgbClr val="E07A29"/>
              </a:solidFill>
              <a:effectLst/>
            </c:spPr>
          </c:dPt>
          <c:dPt>
            <c:idx val="2"/>
            <c:bubble3D val="0"/>
            <c:spPr>
              <a:solidFill>
                <a:srgbClr val="8C8C8C"/>
              </a:solidFill>
              <a:effectLst/>
            </c:spPr>
          </c:dPt>
          <c:dPt>
            <c:idx val="3"/>
            <c:bubble3D val="0"/>
            <c:spPr>
              <a:solidFill>
                <a:srgbClr val="4D4D4D"/>
              </a:solidFill>
              <a:effectLst/>
            </c:spPr>
          </c:dPt>
          <c:dLbls>
            <c:dLbl>
              <c:idx val="0"/>
              <c:numFmt formatCode="0.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2"/>
              <c:numFmt formatCode="0.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3"/>
              <c:numFmt formatCode="0.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AFAT (agriculture, foret, terres)</c:v>
                </c:pt>
                <c:pt idx="1">
                  <c:v>Energie</c:v>
                </c:pt>
                <c:pt idx="2">
                  <c:v>Procedes industriels</c:v>
                </c:pt>
                <c:pt idx="3">
                  <c:v>Dechets</c:v>
                </c:pt>
              </c:strCache>
            </c:strRef>
          </c:cat>
          <c:val>
            <c:numRef>
              <c:f>Sheet1!$B$2:$B$5</c:f>
              <c:numCache>
                <c:ptCount val="4"/>
                <c:pt idx="0">
                  <c:v>87.7</c:v>
                </c:pt>
                <c:pt idx="1">
                  <c:v>6.2</c:v>
                </c:pt>
                <c:pt idx="2">
                  <c:v>6.1</c:v>
                </c:pt>
                <c:pt idx="3">
                  <c:v>0.03</c:v>
                </c:pt>
              </c:numCache>
            </c:numRef>
          </c:val>
        </c:ser>
        <c:firstSliceAng val="0"/>
      </c:pie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Temperature maximale moyenne par ville (2013-2019)</a:t>
            </a:r>
          </a:p>
        </c:rich>
      </c:tx>
      <c:layout/>
      <c:overlay val="0"/>
    </c:title>
    <c:autoTitleDeleted val="0"/>
    <c:plotArea>
      <c:layout/>
      <c:barChart>
        <c:barDir val="bar"/>
        <c:grouping val="clustered"/>
        <c:varyColors val="0"/>
        <c:ser>
          <c:idx val="0"/>
          <c:order val="0"/>
          <c:tx>
            <c:strRef>
              <c:f>Sheet1!$B$1</c:f>
              <c:strCache>
                <c:ptCount val="1"/>
                <c:pt idx="0">
                  <c:v>Temperature max moyenne (°C)</c:v>
                </c:pt>
              </c:strCache>
            </c:strRef>
          </c:tx>
          <c:spPr>
            <a:solidFill>
              <a:srgbClr val="E07A29"/>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Kouma konda</c:v>
                  </c:pt>
                  <c:pt idx="1">
                    <c:v>Atakpame</c:v>
                  </c:pt>
                  <c:pt idx="2">
                    <c:v>Lome</c:v>
                  </c:pt>
                  <c:pt idx="3">
                    <c:v>Niamtougou</c:v>
                  </c:pt>
                  <c:pt idx="4">
                    <c:v>Sotouboua</c:v>
                  </c:pt>
                  <c:pt idx="5">
                    <c:v>Sokode</c:v>
                  </c:pt>
                  <c:pt idx="6">
                    <c:v>Tabligbo</c:v>
                  </c:pt>
                  <c:pt idx="7">
                    <c:v>Kara</c:v>
                  </c:pt>
                  <c:pt idx="8">
                    <c:v>Dapaong</c:v>
                  </c:pt>
                  <c:pt idx="9">
                    <c:v>Mango</c:v>
                  </c:pt>
                </c:lvl>
              </c:multiLvlStrCache>
            </c:multiLvlStrRef>
          </c:cat>
          <c:val>
            <c:numRef>
              <c:f>Sheet1!$B$2:$B$11</c:f>
              <c:numCache>
                <c:formatCode>General</c:formatCode>
                <c:ptCount val="10"/>
                <c:pt idx="0">
                  <c:v>29.1</c:v>
                </c:pt>
                <c:pt idx="1">
                  <c:v>32.3</c:v>
                </c:pt>
                <c:pt idx="2">
                  <c:v>32.3</c:v>
                </c:pt>
                <c:pt idx="3">
                  <c:v>32.7</c:v>
                </c:pt>
                <c:pt idx="4">
                  <c:v>33.2</c:v>
                </c:pt>
                <c:pt idx="5">
                  <c:v>33.3</c:v>
                </c:pt>
                <c:pt idx="6">
                  <c:v>33.9</c:v>
                </c:pt>
                <c:pt idx="7">
                  <c:v>34.3</c:v>
                </c:pt>
                <c:pt idx="8">
                  <c:v>34.3</c:v>
                </c:pt>
                <c:pt idx="9">
                  <c:v>35.5</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5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Nombre de forets classees par region</a:t>
            </a:r>
          </a:p>
        </c:rich>
      </c:tx>
      <c:layout/>
      <c:overlay val="0"/>
    </c:title>
    <c:autoTitleDeleted val="0"/>
    <c:plotArea>
      <c:layout/>
      <c:barChart>
        <c:barDir val="col"/>
        <c:grouping val="clustered"/>
        <c:varyColors val="0"/>
        <c:ser>
          <c:idx val="0"/>
          <c:order val="0"/>
          <c:tx>
            <c:strRef>
              <c:f>Sheet1!$B$1</c:f>
              <c:strCache>
                <c:ptCount val="1"/>
                <c:pt idx="0">
                  <c:v>Nombre de forets</c:v>
                </c:pt>
              </c:strCache>
            </c:strRef>
          </c:tx>
          <c:spPr>
            <a:solidFill>
              <a:srgbClr val="2C5F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Plateaux</c:v>
                  </c:pt>
                  <c:pt idx="1">
                    <c:v>Kara</c:v>
                  </c:pt>
                  <c:pt idx="2">
                    <c:v>Maritime</c:v>
                  </c:pt>
                  <c:pt idx="3">
                    <c:v>Centrale</c:v>
                  </c:pt>
                  <c:pt idx="4">
                    <c:v>Savanes</c:v>
                  </c:pt>
                </c:lvl>
              </c:multiLvlStrCache>
            </c:multiLvlStrRef>
          </c:cat>
          <c:val>
            <c:numRef>
              <c:f>Sheet1!$B$2:$B$6</c:f>
              <c:numCache>
                <c:formatCode>General</c:formatCode>
                <c:ptCount val="5"/>
                <c:pt idx="0">
                  <c:v>20</c:v>
                </c:pt>
                <c:pt idx="1">
                  <c:v>12</c:v>
                </c:pt>
                <c:pt idx="2">
                  <c:v>10</c:v>
                </c:pt>
                <c:pt idx="3">
                  <c:v>7</c:v>
                </c:pt>
                <c:pt idx="4">
                  <c:v>4</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0" y="4434840"/>
            <a:ext cx="12188952" cy="2423160"/>
          </a:xfrm>
          <a:prstGeom prst="rect">
            <a:avLst/>
          </a:prstGeom>
          <a:solidFill>
            <a:srgbClr val="234E25"/>
          </a:solidFill>
          <a:ln/>
        </p:spPr>
      </p:sp>
      <p:sp>
        <p:nvSpPr>
          <p:cNvPr id="3" name="Text 1"/>
          <p:cNvSpPr txBox="1"/>
          <p:nvPr/>
        </p:nvSpPr>
        <p:spPr>
          <a:xfrm>
            <a:off x="822960" y="2103120"/>
            <a:ext cx="10515600" cy="1280160"/>
          </a:xfrm>
          <a:prstGeom prst="rect">
            <a:avLst/>
          </a:prstGeom>
          <a:noFill/>
          <a:ln/>
        </p:spPr>
        <p:txBody>
          <a:bodyPr wrap="square"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ENERGIE &amp; TRANSITION ECOLOGIQUE AU TOGO</a:t>
            </a:r>
            <a:endParaRPr lang="en-US" sz="4000" dirty="0"/>
          </a:p>
        </p:txBody>
      </p:sp>
      <p:sp>
        <p:nvSpPr>
          <p:cNvPr id="4" name="Text 2"/>
          <p:cNvSpPr txBox="1"/>
          <p:nvPr/>
        </p:nvSpPr>
        <p:spPr>
          <a:xfrm>
            <a:off x="822960" y="3246120"/>
            <a:ext cx="9144000" cy="548640"/>
          </a:xfrm>
          <a:prstGeom prst="rect">
            <a:avLst/>
          </a:prstGeom>
          <a:noFill/>
          <a:ln/>
        </p:spPr>
        <p:txBody>
          <a:bodyPr wrap="square" rtlCol="0" anchor="ctr"/>
          <a:lstStyle/>
          <a:p>
            <a:pPr indent="0" marL="0">
              <a:buNone/>
            </a:pPr>
            <a:r>
              <a:rPr lang="en-US" sz="1800" i="1" dirty="0">
                <a:solidFill>
                  <a:srgbClr val="97BC62"/>
                </a:solidFill>
                <a:latin typeface="Calibri" pitchFamily="34" charset="0"/>
                <a:ea typeface="Calibri" pitchFamily="34" charset="-122"/>
                <a:cs typeface="Calibri" pitchFamily="34" charset="-120"/>
              </a:rPr>
              <a:t>Electrifier les campagnes, proteger les forets</a:t>
            </a:r>
            <a:endParaRPr lang="en-US" sz="1800" dirty="0"/>
          </a:p>
        </p:txBody>
      </p:sp>
      <p:sp>
        <p:nvSpPr>
          <p:cNvPr id="5" name="Text 3"/>
          <p:cNvSpPr txBox="1"/>
          <p:nvPr/>
        </p:nvSpPr>
        <p:spPr>
          <a:xfrm>
            <a:off x="822960" y="4846320"/>
            <a:ext cx="73152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Defi 2 — Environnement  |  Laboratoire d'IA du Togo</a:t>
            </a:r>
            <a:endParaRPr lang="en-US" sz="1400" dirty="0"/>
          </a:p>
        </p:txBody>
      </p:sp>
      <p:sp>
        <p:nvSpPr>
          <p:cNvPr id="6" name="Text 4"/>
          <p:cNvSpPr txBox="1"/>
          <p:nvPr/>
        </p:nvSpPr>
        <p:spPr>
          <a:xfrm>
            <a:off x="822960" y="5257800"/>
            <a:ext cx="7315200" cy="365760"/>
          </a:xfrm>
          <a:prstGeom prst="rect">
            <a:avLst/>
          </a:prstGeom>
          <a:noFill/>
          <a:ln/>
        </p:spPr>
        <p:txBody>
          <a:bodyPr wrap="square" rtlCol="0" anchor="ctr"/>
          <a:lstStyle/>
          <a:p>
            <a:pPr indent="0" marL="0">
              <a:buNone/>
            </a:pPr>
            <a:r>
              <a:rPr lang="en-US" sz="1200" dirty="0">
                <a:solidFill>
                  <a:srgbClr val="CADFC0"/>
                </a:solidFill>
                <a:latin typeface="Calibri" pitchFamily="34" charset="0"/>
                <a:ea typeface="Calibri" pitchFamily="34" charset="-122"/>
                <a:cs typeface="Calibri" pitchFamily="34" charset="-120"/>
              </a:rPr>
              <a:t>Bilali  —  Aout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2C5F2D"/>
                </a:solidFill>
                <a:latin typeface="Cambria" pitchFamily="34" charset="0"/>
                <a:ea typeface="Cambria" pitchFamily="34" charset="-122"/>
                <a:cs typeface="Cambria" pitchFamily="34" charset="-120"/>
              </a:rPr>
              <a:t>Un Togo a deux vitesses</a:t>
            </a:r>
            <a:endParaRPr lang="en-US" sz="3000" dirty="0"/>
          </a:p>
        </p:txBody>
      </p:sp>
      <p:sp>
        <p:nvSpPr>
          <p:cNvPr id="3" name="Shape 1"/>
          <p:cNvSpPr/>
          <p:nvPr/>
        </p:nvSpPr>
        <p:spPr>
          <a:xfrm>
            <a:off x="548640" y="1371600"/>
            <a:ext cx="3383280" cy="2103120"/>
          </a:xfrm>
          <a:prstGeom prst="roundRect">
            <a:avLst>
              <a:gd name="adj" fmla="val 5217"/>
            </a:avLst>
          </a:prstGeom>
          <a:solidFill>
            <a:srgbClr val="F5F5F0"/>
          </a:solidFill>
          <a:ln/>
          <a:effectLst>
            <a:outerShdw sx="100000" sy="100000" kx="0" ky="0" algn="bl" rotWithShape="0" blurRad="76200" dist="25400" dir="5400000">
              <a:srgbClr val="999999">
                <a:alpha val="25000"/>
              </a:srgbClr>
            </a:outerShdw>
          </a:effectLst>
        </p:spPr>
      </p:sp>
      <p:sp>
        <p:nvSpPr>
          <p:cNvPr id="4" name="Text 2"/>
          <p:cNvSpPr txBox="1"/>
          <p:nvPr/>
        </p:nvSpPr>
        <p:spPr>
          <a:xfrm>
            <a:off x="548640" y="1554480"/>
            <a:ext cx="3383280" cy="914400"/>
          </a:xfrm>
          <a:prstGeom prst="rect">
            <a:avLst/>
          </a:prstGeom>
          <a:noFill/>
          <a:ln/>
        </p:spPr>
        <p:txBody>
          <a:bodyPr wrap="square" rtlCol="0" anchor="ctr"/>
          <a:lstStyle/>
          <a:p>
            <a:pPr algn="ctr" indent="0" marL="0">
              <a:buNone/>
            </a:pPr>
            <a:r>
              <a:rPr lang="en-US" sz="4400" b="1" dirty="0">
                <a:solidFill>
                  <a:srgbClr val="2C5F2D"/>
                </a:solidFill>
                <a:latin typeface="Cambria" pitchFamily="34" charset="0"/>
                <a:ea typeface="Cambria" pitchFamily="34" charset="-122"/>
                <a:cs typeface="Cambria" pitchFamily="34" charset="-120"/>
              </a:rPr>
              <a:t>96,5 %</a:t>
            </a:r>
            <a:endParaRPr lang="en-US" sz="4400" dirty="0"/>
          </a:p>
        </p:txBody>
      </p:sp>
      <p:sp>
        <p:nvSpPr>
          <p:cNvPr id="5" name="Text 3"/>
          <p:cNvSpPr txBox="1"/>
          <p:nvPr/>
        </p:nvSpPr>
        <p:spPr>
          <a:xfrm>
            <a:off x="777240" y="2514600"/>
            <a:ext cx="2926080" cy="822960"/>
          </a:xfrm>
          <a:prstGeom prst="rect">
            <a:avLst/>
          </a:prstGeom>
          <a:noFill/>
          <a:ln/>
        </p:spPr>
        <p:txBody>
          <a:bodyPr wrap="square" rtlCol="0" anchor="ctr"/>
          <a:lstStyle/>
          <a:p>
            <a:pPr algn="ctr" indent="0" marL="0">
              <a:buNone/>
            </a:pPr>
            <a:r>
              <a:rPr lang="en-US" sz="1300" dirty="0">
                <a:solidFill>
                  <a:srgbClr val="2B2B2B"/>
                </a:solidFill>
                <a:latin typeface="Calibri" pitchFamily="34" charset="0"/>
                <a:ea typeface="Calibri" pitchFamily="34" charset="-122"/>
                <a:cs typeface="Calibri" pitchFamily="34" charset="-120"/>
              </a:rPr>
              <a:t>acces electrique en ville</a:t>
            </a:r>
            <a:endParaRPr lang="en-US" sz="1300" dirty="0"/>
          </a:p>
        </p:txBody>
      </p:sp>
      <p:sp>
        <p:nvSpPr>
          <p:cNvPr id="6" name="Shape 4"/>
          <p:cNvSpPr/>
          <p:nvPr/>
        </p:nvSpPr>
        <p:spPr>
          <a:xfrm>
            <a:off x="4251960" y="1371600"/>
            <a:ext cx="3383280" cy="2103120"/>
          </a:xfrm>
          <a:prstGeom prst="roundRect">
            <a:avLst>
              <a:gd name="adj" fmla="val 5217"/>
            </a:avLst>
          </a:prstGeom>
          <a:solidFill>
            <a:srgbClr val="F5F5F0"/>
          </a:solidFill>
          <a:ln/>
          <a:effectLst>
            <a:outerShdw sx="100000" sy="100000" kx="0" ky="0" algn="bl" rotWithShape="0" blurRad="76200" dist="25400" dir="5400000">
              <a:srgbClr val="999999">
                <a:alpha val="25000"/>
              </a:srgbClr>
            </a:outerShdw>
          </a:effectLst>
        </p:spPr>
      </p:sp>
      <p:sp>
        <p:nvSpPr>
          <p:cNvPr id="7" name="Text 5"/>
          <p:cNvSpPr txBox="1"/>
          <p:nvPr/>
        </p:nvSpPr>
        <p:spPr>
          <a:xfrm>
            <a:off x="4251960" y="1554480"/>
            <a:ext cx="3383280" cy="914400"/>
          </a:xfrm>
          <a:prstGeom prst="rect">
            <a:avLst/>
          </a:prstGeom>
          <a:noFill/>
          <a:ln/>
        </p:spPr>
        <p:txBody>
          <a:bodyPr wrap="square" rtlCol="0" anchor="ctr"/>
          <a:lstStyle/>
          <a:p>
            <a:pPr algn="ctr" indent="0" marL="0">
              <a:buNone/>
            </a:pPr>
            <a:r>
              <a:rPr lang="en-US" sz="4400" b="1" dirty="0">
                <a:solidFill>
                  <a:srgbClr val="C1440E"/>
                </a:solidFill>
                <a:latin typeface="Cambria" pitchFamily="34" charset="0"/>
                <a:ea typeface="Cambria" pitchFamily="34" charset="-122"/>
                <a:cs typeface="Cambria" pitchFamily="34" charset="-120"/>
              </a:rPr>
              <a:t>25 %</a:t>
            </a:r>
            <a:endParaRPr lang="en-US" sz="4400" dirty="0"/>
          </a:p>
        </p:txBody>
      </p:sp>
      <p:sp>
        <p:nvSpPr>
          <p:cNvPr id="8" name="Text 6"/>
          <p:cNvSpPr txBox="1"/>
          <p:nvPr/>
        </p:nvSpPr>
        <p:spPr>
          <a:xfrm>
            <a:off x="4480560" y="2514600"/>
            <a:ext cx="2926080" cy="822960"/>
          </a:xfrm>
          <a:prstGeom prst="rect">
            <a:avLst/>
          </a:prstGeom>
          <a:noFill/>
          <a:ln/>
        </p:spPr>
        <p:txBody>
          <a:bodyPr wrap="square" rtlCol="0" anchor="ctr"/>
          <a:lstStyle/>
          <a:p>
            <a:pPr algn="ctr" indent="0" marL="0">
              <a:buNone/>
            </a:pPr>
            <a:r>
              <a:rPr lang="en-US" sz="1300" dirty="0">
                <a:solidFill>
                  <a:srgbClr val="2B2B2B"/>
                </a:solidFill>
                <a:latin typeface="Calibri" pitchFamily="34" charset="0"/>
                <a:ea typeface="Calibri" pitchFamily="34" charset="-122"/>
                <a:cs typeface="Calibri" pitchFamily="34" charset="-120"/>
              </a:rPr>
              <a:t>acces electrique en campagne</a:t>
            </a:r>
            <a:endParaRPr lang="en-US" sz="1300" dirty="0"/>
          </a:p>
        </p:txBody>
      </p:sp>
      <p:sp>
        <p:nvSpPr>
          <p:cNvPr id="9" name="Shape 7"/>
          <p:cNvSpPr/>
          <p:nvPr/>
        </p:nvSpPr>
        <p:spPr>
          <a:xfrm>
            <a:off x="7955280" y="1371600"/>
            <a:ext cx="3383280" cy="2103120"/>
          </a:xfrm>
          <a:prstGeom prst="roundRect">
            <a:avLst>
              <a:gd name="adj" fmla="val 5217"/>
            </a:avLst>
          </a:prstGeom>
          <a:solidFill>
            <a:srgbClr val="F5F5F0"/>
          </a:solidFill>
          <a:ln/>
          <a:effectLst>
            <a:outerShdw sx="100000" sy="100000" kx="0" ky="0" algn="bl" rotWithShape="0" blurRad="76200" dist="25400" dir="5400000">
              <a:srgbClr val="999999">
                <a:alpha val="25000"/>
              </a:srgbClr>
            </a:outerShdw>
          </a:effectLst>
        </p:spPr>
      </p:sp>
      <p:sp>
        <p:nvSpPr>
          <p:cNvPr id="10" name="Text 8"/>
          <p:cNvSpPr txBox="1"/>
          <p:nvPr/>
        </p:nvSpPr>
        <p:spPr>
          <a:xfrm>
            <a:off x="7955280" y="1554480"/>
            <a:ext cx="3383280" cy="914400"/>
          </a:xfrm>
          <a:prstGeom prst="rect">
            <a:avLst/>
          </a:prstGeom>
          <a:noFill/>
          <a:ln/>
        </p:spPr>
        <p:txBody>
          <a:bodyPr wrap="square" rtlCol="0" anchor="ctr"/>
          <a:lstStyle/>
          <a:p>
            <a:pPr algn="ctr" indent="0" marL="0">
              <a:buNone/>
            </a:pPr>
            <a:r>
              <a:rPr lang="en-US" sz="4400" b="1" dirty="0">
                <a:solidFill>
                  <a:srgbClr val="E07A29"/>
                </a:solidFill>
                <a:latin typeface="Cambria" pitchFamily="34" charset="0"/>
                <a:ea typeface="Cambria" pitchFamily="34" charset="-122"/>
                <a:cs typeface="Cambria" pitchFamily="34" charset="-120"/>
              </a:rPr>
              <a:t>89,4 %</a:t>
            </a:r>
            <a:endParaRPr lang="en-US" sz="4400" dirty="0"/>
          </a:p>
        </p:txBody>
      </p:sp>
      <p:sp>
        <p:nvSpPr>
          <p:cNvPr id="11" name="Text 9"/>
          <p:cNvSpPr txBox="1"/>
          <p:nvPr/>
        </p:nvSpPr>
        <p:spPr>
          <a:xfrm>
            <a:off x="8183880" y="2514600"/>
            <a:ext cx="2926080" cy="822960"/>
          </a:xfrm>
          <a:prstGeom prst="rect">
            <a:avLst/>
          </a:prstGeom>
          <a:noFill/>
          <a:ln/>
        </p:spPr>
        <p:txBody>
          <a:bodyPr wrap="square" rtlCol="0" anchor="ctr"/>
          <a:lstStyle/>
          <a:p>
            <a:pPr algn="ctr" indent="0" marL="0">
              <a:buNone/>
            </a:pPr>
            <a:r>
              <a:rPr lang="en-US" sz="1300" dirty="0">
                <a:solidFill>
                  <a:srgbClr val="2B2B2B"/>
                </a:solidFill>
                <a:latin typeface="Calibri" pitchFamily="34" charset="0"/>
                <a:ea typeface="Calibri" pitchFamily="34" charset="-122"/>
                <a:cs typeface="Calibri" pitchFamily="34" charset="-120"/>
              </a:rPr>
              <a:t>des menages cuisinent au bois ou charbon</a:t>
            </a:r>
            <a:endParaRPr lang="en-US" sz="1300" dirty="0"/>
          </a:p>
        </p:txBody>
      </p:sp>
      <p:sp>
        <p:nvSpPr>
          <p:cNvPr id="12" name="Text 10"/>
          <p:cNvSpPr txBox="1"/>
          <p:nvPr/>
        </p:nvSpPr>
        <p:spPr>
          <a:xfrm>
            <a:off x="548640" y="3794760"/>
            <a:ext cx="11064240" cy="1280160"/>
          </a:xfrm>
          <a:prstGeom prst="rect">
            <a:avLst/>
          </a:prstGeom>
          <a:noFill/>
          <a:ln/>
        </p:spPr>
        <p:txBody>
          <a:bodyPr wrap="square" rtlCol="0" anchor="ctr"/>
          <a:lstStyle/>
          <a:p>
            <a:pPr indent="0" marL="0">
              <a:lnSpc>
                <a:spcPts val="2200"/>
              </a:lnSpc>
              <a:buNone/>
            </a:pPr>
            <a:r>
              <a:rPr lang="en-US" sz="1500" dirty="0">
                <a:solidFill>
                  <a:srgbClr val="2B2B2B"/>
                </a:solidFill>
                <a:latin typeface="Calibri" pitchFamily="34" charset="0"/>
                <a:ea typeface="Calibri" pitchFamily="34" charset="-122"/>
                <a:cs typeface="Calibri" pitchFamily="34" charset="-120"/>
              </a:rPr>
              <a:t>Le Togo vise l'acces universel a l'electricite d'ici 2030 tout en developpant les energies propres et en protegeant ses forets. Aujourd'hui, l'ecart d'electrification ville-campagne atteint 71,5 points, et la quasi-totalite des menages cuisine encore au bois ou au charbon — une double pression sur le budget des foyers et sur les forets.</a:t>
            </a:r>
            <a:endParaRPr lang="en-US" sz="1500" dirty="0"/>
          </a:p>
        </p:txBody>
      </p:sp>
      <p:sp>
        <p:nvSpPr>
          <p:cNvPr id="13" name="Text 11"/>
          <p:cNvSpPr txBox="1"/>
          <p:nvPr/>
        </p:nvSpPr>
        <p:spPr>
          <a:xfrm>
            <a:off x="548640" y="5257800"/>
            <a:ext cx="11064240" cy="822960"/>
          </a:xfrm>
          <a:prstGeom prst="rect">
            <a:avLst/>
          </a:prstGeom>
          <a:noFill/>
          <a:ln/>
        </p:spPr>
        <p:txBody>
          <a:bodyPr wrap="square" rtlCol="0" anchor="ctr"/>
          <a:lstStyle/>
          <a:p>
            <a:pPr indent="0" marL="0">
              <a:lnSpc>
                <a:spcPts val="1800"/>
              </a:lnSpc>
              <a:buNone/>
            </a:pPr>
            <a:r>
              <a:rPr lang="en-US" sz="1300" i="1" dirty="0">
                <a:solidFill>
                  <a:srgbClr val="555555"/>
                </a:solidFill>
                <a:latin typeface="Calibri" pitchFamily="34" charset="0"/>
                <a:ea typeface="Calibri" pitchFamily="34" charset="-122"/>
                <a:cs typeface="Calibri" pitchFamily="34" charset="-120"/>
              </a:rPr>
              <a:t>Objectif de l'analyse : croiser 6 jeux de donnees (electricite, cuisson, climat, emissions, forets) pour identifier les zones prioritaires et proposer des solutions concretes.</a:t>
            </a:r>
            <a:endParaRPr lang="en-US" sz="1300" dirty="0"/>
          </a:p>
        </p:txBody>
      </p:sp>
      <p:sp>
        <p:nvSpPr>
          <p:cNvPr id="14" name="Text 12"/>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15" name="Text 13"/>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2C5F2D"/>
                </a:solidFill>
                <a:latin typeface="Cambria" pitchFamily="34" charset="0"/>
                <a:ea typeface="Cambria" pitchFamily="34" charset="-122"/>
                <a:cs typeface="Cambria" pitchFamily="34" charset="-120"/>
              </a:rPr>
              <a:t>Methodologie</a:t>
            </a:r>
            <a:endParaRPr lang="en-US" sz="3000" dirty="0"/>
          </a:p>
        </p:txBody>
      </p:sp>
      <p:sp>
        <p:nvSpPr>
          <p:cNvPr id="3" name="Shape 1"/>
          <p:cNvSpPr/>
          <p:nvPr/>
        </p:nvSpPr>
        <p:spPr>
          <a:xfrm>
            <a:off x="640080" y="1463040"/>
            <a:ext cx="502920" cy="502920"/>
          </a:xfrm>
          <a:prstGeom prst="ellipse">
            <a:avLst/>
          </a:prstGeom>
          <a:solidFill>
            <a:srgbClr val="2C5F2D"/>
          </a:solidFill>
          <a:ln/>
        </p:spPr>
      </p:sp>
      <p:sp>
        <p:nvSpPr>
          <p:cNvPr id="4" name="Text 2"/>
          <p:cNvSpPr txBox="1"/>
          <p:nvPr/>
        </p:nvSpPr>
        <p:spPr>
          <a:xfrm>
            <a:off x="640080" y="146304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371600" y="1417320"/>
            <a:ext cx="3657600" cy="365760"/>
          </a:xfrm>
          <a:prstGeom prst="rect">
            <a:avLst/>
          </a:prstGeom>
          <a:noFill/>
          <a:ln/>
        </p:spPr>
        <p:txBody>
          <a:bodyPr wrap="square"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1. Nettoyage</a:t>
            </a:r>
            <a:endParaRPr lang="en-US" sz="1600" dirty="0"/>
          </a:p>
        </p:txBody>
      </p:sp>
      <p:sp>
        <p:nvSpPr>
          <p:cNvPr id="6" name="Text 4"/>
          <p:cNvSpPr txBox="1"/>
          <p:nvPr/>
        </p:nvSpPr>
        <p:spPr>
          <a:xfrm>
            <a:off x="1371600" y="1783080"/>
            <a:ext cx="9875520" cy="548640"/>
          </a:xfrm>
          <a:prstGeom prst="rect">
            <a:avLst/>
          </a:prstGeom>
          <a:noFill/>
          <a:ln/>
        </p:spPr>
        <p:txBody>
          <a:bodyPr wrap="square" rtlCol="0" anchor="ctr"/>
          <a:lstStyle/>
          <a:p>
            <a:pPr indent="0" marL="0">
              <a:lnSpc>
                <a:spcPts val="1700"/>
              </a:lnSpc>
              <a:buNone/>
            </a:pPr>
            <a:r>
              <a:rPr lang="en-US" sz="1300" dirty="0">
                <a:solidFill>
                  <a:srgbClr val="2B2B2B"/>
                </a:solidFill>
                <a:latin typeface="Calibri" pitchFamily="34" charset="0"/>
                <a:ea typeface="Calibri" pitchFamily="34" charset="-122"/>
                <a:cs typeface="Calibri" pitchFamily="34" charset="-120"/>
              </a:rPr>
              <a:t>6 jeux de donnees bruts filtres, dedoublonnes et harmonises (22 indicateurs retenus sur 3437).</a:t>
            </a:r>
            <a:endParaRPr lang="en-US" sz="1300" dirty="0"/>
          </a:p>
        </p:txBody>
      </p:sp>
      <p:sp>
        <p:nvSpPr>
          <p:cNvPr id="7" name="Shape 5"/>
          <p:cNvSpPr/>
          <p:nvPr/>
        </p:nvSpPr>
        <p:spPr>
          <a:xfrm>
            <a:off x="640080" y="2651760"/>
            <a:ext cx="502920" cy="502920"/>
          </a:xfrm>
          <a:prstGeom prst="ellipse">
            <a:avLst/>
          </a:prstGeom>
          <a:solidFill>
            <a:srgbClr val="2C5F2D"/>
          </a:solidFill>
          <a:ln/>
        </p:spPr>
      </p:sp>
      <p:sp>
        <p:nvSpPr>
          <p:cNvPr id="8" name="Text 6"/>
          <p:cNvSpPr txBox="1"/>
          <p:nvPr/>
        </p:nvSpPr>
        <p:spPr>
          <a:xfrm>
            <a:off x="640080" y="265176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1371600" y="2606040"/>
            <a:ext cx="3657600" cy="365760"/>
          </a:xfrm>
          <a:prstGeom prst="rect">
            <a:avLst/>
          </a:prstGeom>
          <a:noFill/>
          <a:ln/>
        </p:spPr>
        <p:txBody>
          <a:bodyPr wrap="square"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2. Indicateurs cles</a:t>
            </a:r>
            <a:endParaRPr lang="en-US" sz="1600" dirty="0"/>
          </a:p>
        </p:txBody>
      </p:sp>
      <p:sp>
        <p:nvSpPr>
          <p:cNvPr id="10" name="Text 8"/>
          <p:cNvSpPr txBox="1"/>
          <p:nvPr/>
        </p:nvSpPr>
        <p:spPr>
          <a:xfrm>
            <a:off x="1371600" y="2971800"/>
            <a:ext cx="9875520" cy="548640"/>
          </a:xfrm>
          <a:prstGeom prst="rect">
            <a:avLst/>
          </a:prstGeom>
          <a:noFill/>
          <a:ln/>
        </p:spPr>
        <p:txBody>
          <a:bodyPr wrap="square" rtlCol="0" anchor="ctr"/>
          <a:lstStyle/>
          <a:p>
            <a:pPr indent="0" marL="0">
              <a:lnSpc>
                <a:spcPts val="1700"/>
              </a:lnSpc>
              <a:buNone/>
            </a:pPr>
            <a:r>
              <a:rPr lang="en-US" sz="1300" dirty="0">
                <a:solidFill>
                  <a:srgbClr val="2B2B2B"/>
                </a:solidFill>
                <a:latin typeface="Calibri" pitchFamily="34" charset="0"/>
                <a:ea typeface="Calibri" pitchFamily="34" charset="-122"/>
                <a:cs typeface="Calibri" pitchFamily="34" charset="-120"/>
              </a:rPr>
              <a:t>Calcul de 16 KPI : ecarts electrification, poids des combustibles, part des emissions par secteur.</a:t>
            </a:r>
            <a:endParaRPr lang="en-US" sz="1300" dirty="0"/>
          </a:p>
        </p:txBody>
      </p:sp>
      <p:sp>
        <p:nvSpPr>
          <p:cNvPr id="11" name="Shape 9"/>
          <p:cNvSpPr/>
          <p:nvPr/>
        </p:nvSpPr>
        <p:spPr>
          <a:xfrm>
            <a:off x="640080" y="3840480"/>
            <a:ext cx="502920" cy="502920"/>
          </a:xfrm>
          <a:prstGeom prst="ellipse">
            <a:avLst/>
          </a:prstGeom>
          <a:solidFill>
            <a:srgbClr val="2C5F2D"/>
          </a:solidFill>
          <a:ln/>
        </p:spPr>
      </p:sp>
      <p:sp>
        <p:nvSpPr>
          <p:cNvPr id="12" name="Text 10"/>
          <p:cNvSpPr txBox="1"/>
          <p:nvPr/>
        </p:nvSpPr>
        <p:spPr>
          <a:xfrm>
            <a:off x="640080" y="384048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371600" y="3794760"/>
            <a:ext cx="3657600" cy="365760"/>
          </a:xfrm>
          <a:prstGeom prst="rect">
            <a:avLst/>
          </a:prstGeom>
          <a:noFill/>
          <a:ln/>
        </p:spPr>
        <p:txBody>
          <a:bodyPr wrap="square"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3. Croisement</a:t>
            </a:r>
            <a:endParaRPr lang="en-US" sz="1600" dirty="0"/>
          </a:p>
        </p:txBody>
      </p:sp>
      <p:sp>
        <p:nvSpPr>
          <p:cNvPr id="14" name="Text 12"/>
          <p:cNvSpPr txBox="1"/>
          <p:nvPr/>
        </p:nvSpPr>
        <p:spPr>
          <a:xfrm>
            <a:off x="1371600" y="4160520"/>
            <a:ext cx="9875520" cy="548640"/>
          </a:xfrm>
          <a:prstGeom prst="rect">
            <a:avLst/>
          </a:prstGeom>
          <a:noFill/>
          <a:ln/>
        </p:spPr>
        <p:txBody>
          <a:bodyPr wrap="square" rtlCol="0" anchor="ctr"/>
          <a:lstStyle/>
          <a:p>
            <a:pPr indent="0" marL="0">
              <a:lnSpc>
                <a:spcPts val="1700"/>
              </a:lnSpc>
              <a:buNone/>
            </a:pPr>
            <a:r>
              <a:rPr lang="en-US" sz="1300" dirty="0">
                <a:solidFill>
                  <a:srgbClr val="2B2B2B"/>
                </a:solidFill>
                <a:latin typeface="Calibri" pitchFamily="34" charset="0"/>
                <a:ea typeface="Calibri" pitchFamily="34" charset="-122"/>
                <a:cs typeface="Calibri" pitchFamily="34" charset="-120"/>
              </a:rPr>
              <a:t>Mise en relation climat, energie et forets pour reperer les zones les plus vulnerables.</a:t>
            </a:r>
            <a:endParaRPr lang="en-US" sz="1300" dirty="0"/>
          </a:p>
        </p:txBody>
      </p:sp>
      <p:sp>
        <p:nvSpPr>
          <p:cNvPr id="15" name="Shape 13"/>
          <p:cNvSpPr/>
          <p:nvPr/>
        </p:nvSpPr>
        <p:spPr>
          <a:xfrm>
            <a:off x="640080" y="5029200"/>
            <a:ext cx="502920" cy="502920"/>
          </a:xfrm>
          <a:prstGeom prst="ellipse">
            <a:avLst/>
          </a:prstGeom>
          <a:solidFill>
            <a:srgbClr val="2C5F2D"/>
          </a:solidFill>
          <a:ln/>
        </p:spPr>
      </p:sp>
      <p:sp>
        <p:nvSpPr>
          <p:cNvPr id="16" name="Text 14"/>
          <p:cNvSpPr txBox="1"/>
          <p:nvPr/>
        </p:nvSpPr>
        <p:spPr>
          <a:xfrm>
            <a:off x="640080" y="502920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7" name="Text 15"/>
          <p:cNvSpPr txBox="1"/>
          <p:nvPr/>
        </p:nvSpPr>
        <p:spPr>
          <a:xfrm>
            <a:off x="1371600" y="4983480"/>
            <a:ext cx="3657600" cy="365760"/>
          </a:xfrm>
          <a:prstGeom prst="rect">
            <a:avLst/>
          </a:prstGeom>
          <a:noFill/>
          <a:ln/>
        </p:spPr>
        <p:txBody>
          <a:bodyPr wrap="square"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4. Dashboard interactif</a:t>
            </a:r>
            <a:endParaRPr lang="en-US" sz="1600" dirty="0"/>
          </a:p>
        </p:txBody>
      </p:sp>
      <p:sp>
        <p:nvSpPr>
          <p:cNvPr id="18" name="Text 16"/>
          <p:cNvSpPr txBox="1"/>
          <p:nvPr/>
        </p:nvSpPr>
        <p:spPr>
          <a:xfrm>
            <a:off x="1371600" y="5349240"/>
            <a:ext cx="9875520" cy="548640"/>
          </a:xfrm>
          <a:prstGeom prst="rect">
            <a:avLst/>
          </a:prstGeom>
          <a:noFill/>
          <a:ln/>
        </p:spPr>
        <p:txBody>
          <a:bodyPr wrap="square" rtlCol="0" anchor="ctr"/>
          <a:lstStyle/>
          <a:p>
            <a:pPr indent="0" marL="0">
              <a:lnSpc>
                <a:spcPts val="1700"/>
              </a:lnSpc>
              <a:buNone/>
            </a:pPr>
            <a:r>
              <a:rPr lang="en-US" sz="1300" dirty="0">
                <a:solidFill>
                  <a:srgbClr val="2B2B2B"/>
                </a:solidFill>
                <a:latin typeface="Calibri" pitchFamily="34" charset="0"/>
                <a:ea typeface="Calibri" pitchFamily="34" charset="-122"/>
                <a:cs typeface="Calibri" pitchFamily="34" charset="-120"/>
              </a:rPr>
              <a:t>Application Streamlit avec filtres region/ville et carte des 53 forets classees.</a:t>
            </a:r>
            <a:endParaRPr lang="en-US" sz="1300" dirty="0"/>
          </a:p>
        </p:txBody>
      </p:sp>
      <p:sp>
        <p:nvSpPr>
          <p:cNvPr id="19" name="Text 17"/>
          <p:cNvSpPr txBox="1"/>
          <p:nvPr/>
        </p:nvSpPr>
        <p:spPr>
          <a:xfrm>
            <a:off x="640080" y="6172200"/>
            <a:ext cx="1088136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Limite identifiee : les donnees disponibles sont nationales ou par ville/region — pas de granularite village par village pour l'acces a l'electricite.</a:t>
            </a:r>
            <a:endParaRPr lang="en-US" sz="1100" dirty="0"/>
          </a:p>
        </p:txBody>
      </p:sp>
      <p:sp>
        <p:nvSpPr>
          <p:cNvPr id="20" name="Text 18"/>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21" name="Text 19"/>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L'ecart ville-campagne se creuse depuis 30 ans</a:t>
            </a:r>
            <a:endParaRPr lang="en-US" sz="2600" dirty="0"/>
          </a:p>
        </p:txBody>
      </p:sp>
      <p:graphicFrame>
        <p:nvGraphicFramePr>
          <p:cNvPr id="3" name="Chart 0" descr=""/>
          <p:cNvGraphicFramePr/>
          <p:nvPr/>
        </p:nvGraphicFramePr>
        <p:xfrm>
          <a:off x="548640" y="123444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772400" y="1463040"/>
            <a:ext cx="3886200" cy="1828800"/>
          </a:xfrm>
          <a:prstGeom prst="roundRect">
            <a:avLst>
              <a:gd name="adj" fmla="val 5000"/>
            </a:avLst>
          </a:prstGeom>
          <a:solidFill>
            <a:srgbClr val="F5F5F0"/>
          </a:solidFill>
          <a:ln/>
        </p:spPr>
      </p:sp>
      <p:sp>
        <p:nvSpPr>
          <p:cNvPr id="5" name="Text 2"/>
          <p:cNvSpPr txBox="1"/>
          <p:nvPr/>
        </p:nvSpPr>
        <p:spPr>
          <a:xfrm>
            <a:off x="7772400" y="1600200"/>
            <a:ext cx="3886200" cy="822960"/>
          </a:xfrm>
          <a:prstGeom prst="rect">
            <a:avLst/>
          </a:prstGeom>
          <a:noFill/>
          <a:ln/>
        </p:spPr>
        <p:txBody>
          <a:bodyPr wrap="square" rtlCol="0" anchor="ctr"/>
          <a:lstStyle/>
          <a:p>
            <a:pPr algn="ctr" indent="0" marL="0">
              <a:buNone/>
            </a:pPr>
            <a:r>
              <a:rPr lang="en-US" sz="4000" b="1" dirty="0">
                <a:solidFill>
                  <a:srgbClr val="C1440E"/>
                </a:solidFill>
                <a:latin typeface="Cambria" pitchFamily="34" charset="0"/>
                <a:ea typeface="Cambria" pitchFamily="34" charset="-122"/>
                <a:cs typeface="Cambria" pitchFamily="34" charset="-120"/>
              </a:rPr>
              <a:t>71,5 points</a:t>
            </a:r>
            <a:endParaRPr lang="en-US" sz="4000" dirty="0"/>
          </a:p>
        </p:txBody>
      </p:sp>
      <p:sp>
        <p:nvSpPr>
          <p:cNvPr id="6" name="Text 3"/>
          <p:cNvSpPr txBox="1"/>
          <p:nvPr/>
        </p:nvSpPr>
        <p:spPr>
          <a:xfrm>
            <a:off x="8001000" y="2377440"/>
            <a:ext cx="3429000" cy="822960"/>
          </a:xfrm>
          <a:prstGeom prst="rect">
            <a:avLst/>
          </a:prstGeom>
          <a:noFill/>
          <a:ln/>
        </p:spPr>
        <p:txBody>
          <a:bodyPr wrap="square" rtlCol="0" anchor="ctr"/>
          <a:lstStyle/>
          <a:p>
            <a:pPr algn="ctr" indent="0" marL="0">
              <a:lnSpc>
                <a:spcPts val="1600"/>
              </a:lnSpc>
              <a:buNone/>
            </a:pPr>
            <a:r>
              <a:rPr lang="en-US" sz="1200" dirty="0">
                <a:solidFill>
                  <a:srgbClr val="2B2B2B"/>
                </a:solidFill>
                <a:latin typeface="Calibri" pitchFamily="34" charset="0"/>
                <a:ea typeface="Calibri" pitchFamily="34" charset="-122"/>
                <a:cs typeface="Calibri" pitchFamily="34" charset="-120"/>
              </a:rPr>
              <a:t>d'ecart entre acces urbain (96,5 %) et rural (25 %) en 2022</a:t>
            </a:r>
            <a:endParaRPr lang="en-US" sz="1200" dirty="0"/>
          </a:p>
        </p:txBody>
      </p:sp>
      <p:sp>
        <p:nvSpPr>
          <p:cNvPr id="7" name="Text 4"/>
          <p:cNvSpPr txBox="1"/>
          <p:nvPr/>
        </p:nvSpPr>
        <p:spPr>
          <a:xfrm>
            <a:off x="7772400" y="3566160"/>
            <a:ext cx="3886200" cy="2377440"/>
          </a:xfrm>
          <a:prstGeom prst="rect">
            <a:avLst/>
          </a:prstGeom>
          <a:noFill/>
          <a:ln/>
        </p:spPr>
        <p:txBody>
          <a:bodyPr wrap="square" rtlCol="0" anchor="ctr"/>
          <a:lstStyle/>
          <a:p>
            <a:pPr indent="0" marL="0">
              <a:lnSpc>
                <a:spcPts val="1900"/>
              </a:lnSpc>
              <a:buNone/>
            </a:pPr>
            <a:r>
              <a:rPr lang="en-US" sz="1300" dirty="0">
                <a:solidFill>
                  <a:srgbClr val="2B2B2B"/>
                </a:solidFill>
                <a:latin typeface="Calibri" pitchFamily="34" charset="0"/>
                <a:ea typeface="Calibri" pitchFamily="34" charset="-122"/>
                <a:cs typeface="Calibri" pitchFamily="34" charset="-120"/>
              </a:rPr>
              <a:t>Constat : l'electrification urbaine progresse rapidement depuis 2010, mais la campagne reste tres en retard — le rythme actuel ne suffira pas a atteindre l'objectif d'acces universel en 2030 sans acceleration en milieu rural.</a:t>
            </a:r>
            <a:endParaRPr lang="en-US" sz="1300" dirty="0"/>
          </a:p>
        </p:txBody>
      </p:sp>
      <p:sp>
        <p:nvSpPr>
          <p:cNvPr id="8" name="Text 5"/>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9" name="Text 6"/>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2400" b="1" dirty="0">
                <a:solidFill>
                  <a:srgbClr val="2C5F2D"/>
                </a:solidFill>
                <a:latin typeface="Cambria" pitchFamily="34" charset="0"/>
                <a:ea typeface="Cambria" pitchFamily="34" charset="-122"/>
                <a:cs typeface="Cambria" pitchFamily="34" charset="-120"/>
              </a:rPr>
              <a:t>89,4 % des menages cuisinent encore au bois ou au charbon</a:t>
            </a:r>
            <a:endParaRPr lang="en-US" sz="2400" dirty="0"/>
          </a:p>
        </p:txBody>
      </p:sp>
      <p:graphicFrame>
        <p:nvGraphicFramePr>
          <p:cNvPr id="3" name="Chart 0" descr=""/>
          <p:cNvGraphicFramePr/>
          <p:nvPr/>
        </p:nvGraphicFramePr>
        <p:xfrm>
          <a:off x="548640" y="1280160"/>
          <a:ext cx="5760720" cy="4572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675120" y="1280160"/>
            <a:ext cx="4983480" cy="1965960"/>
          </a:xfrm>
          <a:prstGeom prst="roundRect">
            <a:avLst>
              <a:gd name="adj" fmla="val 4651"/>
            </a:avLst>
          </a:prstGeom>
          <a:solidFill>
            <a:srgbClr val="F5F5F0"/>
          </a:solidFill>
          <a:ln/>
        </p:spPr>
      </p:sp>
      <p:sp>
        <p:nvSpPr>
          <p:cNvPr id="5" name="Text 2"/>
          <p:cNvSpPr txBox="1"/>
          <p:nvPr/>
        </p:nvSpPr>
        <p:spPr>
          <a:xfrm>
            <a:off x="6903720" y="1417320"/>
            <a:ext cx="2194560" cy="822960"/>
          </a:xfrm>
          <a:prstGeom prst="rect">
            <a:avLst/>
          </a:prstGeom>
          <a:noFill/>
          <a:ln/>
        </p:spPr>
        <p:txBody>
          <a:bodyPr wrap="square" rtlCol="0" anchor="ctr"/>
          <a:lstStyle/>
          <a:p>
            <a:pPr indent="0" marL="0">
              <a:buNone/>
            </a:pPr>
            <a:r>
              <a:rPr lang="en-US" sz="3800" b="1" dirty="0">
                <a:solidFill>
                  <a:srgbClr val="2C5F2D"/>
                </a:solidFill>
                <a:latin typeface="Cambria" pitchFamily="34" charset="0"/>
                <a:ea typeface="Cambria" pitchFamily="34" charset="-122"/>
                <a:cs typeface="Cambria" pitchFamily="34" charset="-120"/>
              </a:rPr>
              <a:t>11,9 %</a:t>
            </a:r>
            <a:endParaRPr lang="en-US" sz="3800" dirty="0"/>
          </a:p>
        </p:txBody>
      </p:sp>
      <p:sp>
        <p:nvSpPr>
          <p:cNvPr id="6" name="Text 3"/>
          <p:cNvSpPr txBox="1"/>
          <p:nvPr/>
        </p:nvSpPr>
        <p:spPr>
          <a:xfrm>
            <a:off x="6903720" y="2240280"/>
            <a:ext cx="4480560" cy="868680"/>
          </a:xfrm>
          <a:prstGeom prst="rect">
            <a:avLst/>
          </a:prstGeom>
          <a:noFill/>
          <a:ln/>
        </p:spPr>
        <p:txBody>
          <a:bodyPr wrap="square" rtlCol="0" anchor="ctr"/>
          <a:lstStyle/>
          <a:p>
            <a:pPr indent="0" marL="0">
              <a:lnSpc>
                <a:spcPts val="1500"/>
              </a:lnSpc>
              <a:buNone/>
            </a:pPr>
            <a:r>
              <a:rPr lang="en-US" sz="1200" dirty="0">
                <a:solidFill>
                  <a:srgbClr val="2B2B2B"/>
                </a:solidFill>
                <a:latin typeface="Calibri" pitchFamily="34" charset="0"/>
                <a:ea typeface="Calibri" pitchFamily="34" charset="-122"/>
                <a:cs typeface="Calibri" pitchFamily="34" charset="-120"/>
              </a:rPr>
              <a:t>seulement de la population a acces a des combustibles de cuisson propres et surs (2022)</a:t>
            </a:r>
            <a:endParaRPr lang="en-US" sz="1200" dirty="0"/>
          </a:p>
        </p:txBody>
      </p:sp>
      <p:sp>
        <p:nvSpPr>
          <p:cNvPr id="7" name="Text 4"/>
          <p:cNvSpPr txBox="1"/>
          <p:nvPr/>
        </p:nvSpPr>
        <p:spPr>
          <a:xfrm>
            <a:off x="6675120" y="3566160"/>
            <a:ext cx="4983480" cy="1463040"/>
          </a:xfrm>
          <a:prstGeom prst="rect">
            <a:avLst/>
          </a:prstGeom>
          <a:noFill/>
          <a:ln/>
        </p:spPr>
        <p:txBody>
          <a:bodyPr wrap="square" rtlCol="0" anchor="ctr"/>
          <a:lstStyle/>
          <a:p>
            <a:pPr indent="0" marL="0">
              <a:lnSpc>
                <a:spcPts val="1900"/>
              </a:lnSpc>
              <a:buNone/>
            </a:pPr>
            <a:r>
              <a:rPr lang="en-US" sz="1300" dirty="0">
                <a:solidFill>
                  <a:srgbClr val="2B2B2B"/>
                </a:solidFill>
                <a:latin typeface="Calibri" pitchFamily="34" charset="0"/>
                <a:ea typeface="Calibri" pitchFamily="34" charset="-122"/>
                <a:cs typeface="Calibri" pitchFamily="34" charset="-120"/>
              </a:rPr>
              <a:t>Pourquoi c'est critique : cette dependance massive au bois et au charbon met une pression directe sur les forets et explique en grande partie le poids du secteur AFAT dans les emissions de gaz a effet de serre du pays (voir slide suivante).</a:t>
            </a:r>
            <a:endParaRPr lang="en-US" sz="1300" dirty="0"/>
          </a:p>
        </p:txBody>
      </p:sp>
      <p:sp>
        <p:nvSpPr>
          <p:cNvPr id="8" name="Shape 5"/>
          <p:cNvSpPr/>
          <p:nvPr/>
        </p:nvSpPr>
        <p:spPr>
          <a:xfrm>
            <a:off x="6675120" y="5212080"/>
            <a:ext cx="4983480" cy="1051560"/>
          </a:xfrm>
          <a:prstGeom prst="roundRect">
            <a:avLst>
              <a:gd name="adj" fmla="val 8696"/>
            </a:avLst>
          </a:prstGeom>
          <a:solidFill>
            <a:srgbClr val="FCEFE3"/>
          </a:solidFill>
          <a:ln/>
        </p:spPr>
      </p:sp>
      <p:sp>
        <p:nvSpPr>
          <p:cNvPr id="9" name="Text 6"/>
          <p:cNvSpPr txBox="1"/>
          <p:nvPr/>
        </p:nvSpPr>
        <p:spPr>
          <a:xfrm>
            <a:off x="6903720" y="5303520"/>
            <a:ext cx="4526280" cy="868680"/>
          </a:xfrm>
          <a:prstGeom prst="rect">
            <a:avLst/>
          </a:prstGeom>
          <a:noFill/>
          <a:ln/>
        </p:spPr>
        <p:txBody>
          <a:bodyPr wrap="square" rtlCol="0" anchor="ctr"/>
          <a:lstStyle/>
          <a:p>
            <a:pPr indent="0" marL="0">
              <a:lnSpc>
                <a:spcPts val="1500"/>
              </a:lnSpc>
              <a:buNone/>
            </a:pPr>
            <a:r>
              <a:rPr lang="en-US" sz="1100" i="1" dirty="0">
                <a:solidFill>
                  <a:srgbClr val="E07A29"/>
                </a:solidFill>
                <a:latin typeface="Calibri" pitchFamily="34" charset="0"/>
                <a:ea typeface="Calibri" pitchFamily="34" charset="-122"/>
                <a:cs typeface="Calibri" pitchFamily="34" charset="-120"/>
              </a:rPr>
              <a:t>⚠ Le chiffre officiel de 75,1 % d'«energies renouvelables» inclut la biomasse traditionnelle (bois/charbon) — il ne reflete pas une transition vers l'energie propre.</a:t>
            </a:r>
            <a:endParaRPr lang="en-US" sz="1100" dirty="0"/>
          </a:p>
        </p:txBody>
      </p:sp>
      <p:sp>
        <p:nvSpPr>
          <p:cNvPr id="10" name="Text 7"/>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11" name="Text 8"/>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2400" b="1" dirty="0">
                <a:solidFill>
                  <a:srgbClr val="2C5F2D"/>
                </a:solidFill>
                <a:latin typeface="Cambria" pitchFamily="34" charset="0"/>
                <a:ea typeface="Cambria" pitchFamily="34" charset="-122"/>
                <a:cs typeface="Cambria" pitchFamily="34" charset="-120"/>
              </a:rPr>
              <a:t>Le vrai defi climatique du Togo : les forets, pas l'energie</a:t>
            </a:r>
            <a:endParaRPr lang="en-US" sz="2400" dirty="0"/>
          </a:p>
        </p:txBody>
      </p:sp>
      <p:graphicFrame>
        <p:nvGraphicFramePr>
          <p:cNvPr id="3" name="Chart 0" descr=""/>
          <p:cNvGraphicFramePr/>
          <p:nvPr/>
        </p:nvGraphicFramePr>
        <p:xfrm>
          <a:off x="548640" y="1280160"/>
          <a:ext cx="548640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0" y="1371600"/>
          <a:ext cx="5212080" cy="1828800"/>
        </p:xfrm>
        <a:graphic>
          <a:graphicData uri="http://schemas.openxmlformats.org/drawingml/2006/table">
            <a:tbl>
              <a:tblPr/>
              <a:tblGrid>
                <a:gridCol w="3474720"/>
                <a:gridCol w="1737360"/>
              </a:tblGrid>
              <a:tr h="36576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Secteur</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Part des emissions</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AFAT (agriculture / foret / terres)</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87,7 %</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Energie</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6,2 %</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Procedes industriels (PIUP)</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6,1 %</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Dechets</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~0 %</a:t>
                      </a:r>
                      <a:endParaRPr lang="en-US" sz="1300" dirty="0">
                        <a:latin typeface="Calibri" charset="0"/>
                        <a:ea typeface="Calibri" charset="0"/>
                        <a:cs typeface="Calibri" charset="0"/>
                      </a:endParaRPr>
                    </a:p>
                  </a:txBody>
                  <a:tcPr marL="91440" marR="91440" marT="45720" marB="45720">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400800" y="3383280"/>
            <a:ext cx="5212080" cy="2560320"/>
          </a:xfrm>
          <a:prstGeom prst="rect">
            <a:avLst/>
          </a:prstGeom>
          <a:noFill/>
          <a:ln/>
        </p:spPr>
        <p:txBody>
          <a:bodyPr wrap="square" rtlCol="0" anchor="ctr"/>
          <a:lstStyle/>
          <a:p>
            <a:pPr indent="0" marL="0">
              <a:lnSpc>
                <a:spcPts val="1900"/>
              </a:lnSpc>
              <a:buNone/>
            </a:pPr>
            <a:r>
              <a:rPr lang="en-US" sz="1300" dirty="0">
                <a:solidFill>
                  <a:srgbClr val="2B2B2B"/>
                </a:solidFill>
                <a:latin typeface="Calibri" pitchFamily="34" charset="0"/>
                <a:ea typeface="Calibri" pitchFamily="34" charset="-122"/>
                <a:cs typeface="Calibri" pitchFamily="34" charset="-120"/>
              </a:rPr>
              <a:t>Interpretation : contrairement a une idee recue, le secteur energetique togolais n'est pas le principal emetteur de gaz a effet de serre. C'est la deforestation et l'usage des terres (AFAT) qui domine — largement alimentee par la coupe de bois de chauffage. Proteger les forets et reduire la depense en bois/charbon sont donc le meme combat.</a:t>
            </a:r>
            <a:endParaRPr lang="en-US" sz="1300" dirty="0"/>
          </a:p>
        </p:txBody>
      </p:sp>
      <p:sp>
        <p:nvSpPr>
          <p:cNvPr id="6" name="Text 2"/>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7" name="Text 3"/>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2200" b="1" dirty="0">
                <a:solidFill>
                  <a:srgbClr val="2C5F2D"/>
                </a:solidFill>
                <a:latin typeface="Cambria" pitchFamily="34" charset="0"/>
                <a:ea typeface="Cambria" pitchFamily="34" charset="-122"/>
                <a:cs typeface="Cambria" pitchFamily="34" charset="-120"/>
              </a:rPr>
              <a:t>Le Nord, plus chaud, cumule aussi le plus grand retard energetique</a:t>
            </a:r>
            <a:endParaRPr lang="en-US" sz="2200" dirty="0"/>
          </a:p>
        </p:txBody>
      </p:sp>
      <p:graphicFrame>
        <p:nvGraphicFramePr>
          <p:cNvPr id="3" name="Chart 0" descr=""/>
          <p:cNvGraphicFramePr/>
          <p:nvPr/>
        </p:nvGraphicFramePr>
        <p:xfrm>
          <a:off x="548640" y="123444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63040"/>
            <a:ext cx="3794760" cy="1554480"/>
          </a:xfrm>
          <a:prstGeom prst="roundRect">
            <a:avLst>
              <a:gd name="adj" fmla="val 5882"/>
            </a:avLst>
          </a:prstGeom>
          <a:solidFill>
            <a:srgbClr val="F5F5F0"/>
          </a:solidFill>
          <a:ln/>
        </p:spPr>
      </p:sp>
      <p:sp>
        <p:nvSpPr>
          <p:cNvPr id="5" name="Text 2"/>
          <p:cNvSpPr txBox="1"/>
          <p:nvPr/>
        </p:nvSpPr>
        <p:spPr>
          <a:xfrm>
            <a:off x="7863840" y="1554480"/>
            <a:ext cx="3794760" cy="731520"/>
          </a:xfrm>
          <a:prstGeom prst="rect">
            <a:avLst/>
          </a:prstGeom>
          <a:noFill/>
          <a:ln/>
        </p:spPr>
        <p:txBody>
          <a:bodyPr wrap="square" rtlCol="0" anchor="ctr"/>
          <a:lstStyle/>
          <a:p>
            <a:pPr algn="ctr" indent="0" marL="0">
              <a:buNone/>
            </a:pPr>
            <a:r>
              <a:rPr lang="en-US" sz="3400" b="1" dirty="0">
                <a:solidFill>
                  <a:srgbClr val="C1440E"/>
                </a:solidFill>
                <a:latin typeface="Cambria" pitchFamily="34" charset="0"/>
                <a:ea typeface="Cambria" pitchFamily="34" charset="-122"/>
                <a:cs typeface="Cambria" pitchFamily="34" charset="-120"/>
              </a:rPr>
              <a:t>+6,4 °C</a:t>
            </a:r>
            <a:endParaRPr lang="en-US" sz="3400" dirty="0"/>
          </a:p>
        </p:txBody>
      </p:sp>
      <p:sp>
        <p:nvSpPr>
          <p:cNvPr id="6" name="Text 3"/>
          <p:cNvSpPr txBox="1"/>
          <p:nvPr/>
        </p:nvSpPr>
        <p:spPr>
          <a:xfrm>
            <a:off x="8092440" y="2240280"/>
            <a:ext cx="3337560" cy="731520"/>
          </a:xfrm>
          <a:prstGeom prst="rect">
            <a:avLst/>
          </a:prstGeom>
          <a:noFill/>
          <a:ln/>
        </p:spPr>
        <p:txBody>
          <a:bodyPr wrap="square" rtlCol="0" anchor="ctr"/>
          <a:lstStyle/>
          <a:p>
            <a:pPr algn="ctr" indent="0" marL="0">
              <a:lnSpc>
                <a:spcPts val="1500"/>
              </a:lnSpc>
              <a:buNone/>
            </a:pPr>
            <a:r>
              <a:rPr lang="en-US" sz="1200" dirty="0">
                <a:solidFill>
                  <a:srgbClr val="2B2B2B"/>
                </a:solidFill>
                <a:latin typeface="Calibri" pitchFamily="34" charset="0"/>
                <a:ea typeface="Calibri" pitchFamily="34" charset="-122"/>
                <a:cs typeface="Calibri" pitchFamily="34" charset="-120"/>
              </a:rPr>
              <a:t>d'ecart entre Mango (35,5°C, Nord) et Kouma Konda (29,1°C, Ouest)</a:t>
            </a:r>
            <a:endParaRPr lang="en-US" sz="1200" dirty="0"/>
          </a:p>
        </p:txBody>
      </p:sp>
      <p:sp>
        <p:nvSpPr>
          <p:cNvPr id="7" name="Text 4"/>
          <p:cNvSpPr txBox="1"/>
          <p:nvPr/>
        </p:nvSpPr>
        <p:spPr>
          <a:xfrm>
            <a:off x="7863840" y="3383280"/>
            <a:ext cx="3794760" cy="2468880"/>
          </a:xfrm>
          <a:prstGeom prst="rect">
            <a:avLst/>
          </a:prstGeom>
          <a:noFill/>
          <a:ln/>
        </p:spPr>
        <p:txBody>
          <a:bodyPr wrap="square" rtlCol="0" anchor="ctr"/>
          <a:lstStyle/>
          <a:p>
            <a:pPr indent="0" marL="0">
              <a:lnSpc>
                <a:spcPts val="1900"/>
              </a:lnSpc>
              <a:buNone/>
            </a:pPr>
            <a:r>
              <a:rPr lang="en-US" sz="1300" dirty="0">
                <a:solidFill>
                  <a:srgbClr val="2B2B2B"/>
                </a:solidFill>
                <a:latin typeface="Calibri" pitchFamily="34" charset="0"/>
                <a:ea typeface="Calibri" pitchFamily="34" charset="-122"/>
                <a:cs typeface="Calibri" pitchFamily="34" charset="-120"/>
              </a:rPr>
              <a:t>Les villes les plus chaudes (Mango, Dapaong, Kara) se trouvent dans les regions Savanes et Kara — exactement celles ou l'on recense le moins de forets classees (4 et 12 sur 53) et ou la pression climatique sur les ressources en bois est la plus forte.</a:t>
            </a:r>
            <a:endParaRPr lang="en-US" sz="1300" dirty="0"/>
          </a:p>
        </p:txBody>
      </p:sp>
      <p:sp>
        <p:nvSpPr>
          <p:cNvPr id="8" name="Text 5"/>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9" name="Text 6"/>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2C5F2D"/>
                </a:solidFill>
                <a:latin typeface="Cambria" pitchFamily="34" charset="0"/>
                <a:ea typeface="Cambria" pitchFamily="34" charset="-122"/>
                <a:cs typeface="Cambria" pitchFamily="34" charset="-120"/>
              </a:rPr>
              <a:t>53 forets classees, tres inegalement reparties</a:t>
            </a:r>
            <a:endParaRPr lang="en-US" sz="2600" dirty="0"/>
          </a:p>
        </p:txBody>
      </p:sp>
      <p:graphicFrame>
        <p:nvGraphicFramePr>
          <p:cNvPr id="3" name="Chart 0" descr=""/>
          <p:cNvGraphicFramePr/>
          <p:nvPr/>
        </p:nvGraphicFramePr>
        <p:xfrm>
          <a:off x="548640" y="128016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903720" y="1280160"/>
            <a:ext cx="4709160" cy="2103120"/>
          </a:xfrm>
          <a:prstGeom prst="roundRect">
            <a:avLst>
              <a:gd name="adj" fmla="val 4348"/>
            </a:avLst>
          </a:prstGeom>
          <a:solidFill>
            <a:srgbClr val="FCEFE3"/>
          </a:solidFill>
          <a:ln/>
        </p:spPr>
      </p:sp>
      <p:sp>
        <p:nvSpPr>
          <p:cNvPr id="5" name="Text 2"/>
          <p:cNvSpPr txBox="1"/>
          <p:nvPr/>
        </p:nvSpPr>
        <p:spPr>
          <a:xfrm>
            <a:off x="7178040" y="1417320"/>
            <a:ext cx="4206240" cy="457200"/>
          </a:xfrm>
          <a:prstGeom prst="rect">
            <a:avLst/>
          </a:prstGeom>
          <a:noFill/>
          <a:ln/>
        </p:spPr>
        <p:txBody>
          <a:bodyPr wrap="square" rtlCol="0" anchor="ctr"/>
          <a:lstStyle/>
          <a:p>
            <a:pPr indent="0" marL="0">
              <a:buNone/>
            </a:pPr>
            <a:r>
              <a:rPr lang="en-US" sz="1600" b="1" dirty="0">
                <a:solidFill>
                  <a:srgbClr val="C1440E"/>
                </a:solidFill>
                <a:latin typeface="Cambria" pitchFamily="34" charset="0"/>
                <a:ea typeface="Cambria" pitchFamily="34" charset="-122"/>
                <a:cs typeface="Cambria" pitchFamily="34" charset="-120"/>
              </a:rPr>
              <a:t>Zone la plus vulnerable : Savanes</a:t>
            </a:r>
            <a:endParaRPr lang="en-US" sz="1600" dirty="0"/>
          </a:p>
        </p:txBody>
      </p:sp>
      <p:sp>
        <p:nvSpPr>
          <p:cNvPr id="6" name="Text 3"/>
          <p:cNvSpPr txBox="1"/>
          <p:nvPr/>
        </p:nvSpPr>
        <p:spPr>
          <a:xfrm>
            <a:off x="7178040" y="1920240"/>
            <a:ext cx="4206240" cy="1371600"/>
          </a:xfrm>
          <a:prstGeom prst="rect">
            <a:avLst/>
          </a:prstGeom>
          <a:noFill/>
          <a:ln/>
        </p:spPr>
        <p:txBody>
          <a:bodyPr wrap="square" rtlCol="0" anchor="ctr"/>
          <a:lstStyle/>
          <a:p>
            <a:pPr indent="0" marL="0">
              <a:lnSpc>
                <a:spcPts val="1800"/>
              </a:lnSpc>
              <a:buNone/>
            </a:pPr>
            <a:r>
              <a:rPr lang="en-US" sz="1250" dirty="0">
                <a:solidFill>
                  <a:srgbClr val="2B2B2B"/>
                </a:solidFill>
                <a:latin typeface="Calibri" pitchFamily="34" charset="0"/>
                <a:ea typeface="Calibri" pitchFamily="34" charset="-122"/>
                <a:cs typeface="Calibri" pitchFamily="34" charset="-120"/>
              </a:rPr>
              <a:t>Seulement 4 forets classees, temperatures parmi les plus elevees du pays (Mango, Dapaong) et acces electrique rural tres faible — le cumul de ces trois facteurs en fait la priorite numero un pour l'intervention.</a:t>
            </a:r>
            <a:endParaRPr lang="en-US" sz="1250" dirty="0"/>
          </a:p>
        </p:txBody>
      </p:sp>
      <p:sp>
        <p:nvSpPr>
          <p:cNvPr id="7" name="Text 4"/>
          <p:cNvSpPr txBox="1"/>
          <p:nvPr/>
        </p:nvSpPr>
        <p:spPr>
          <a:xfrm>
            <a:off x="6903720" y="3657600"/>
            <a:ext cx="4709160" cy="2194560"/>
          </a:xfrm>
          <a:prstGeom prst="rect">
            <a:avLst/>
          </a:prstGeom>
          <a:noFill/>
          <a:ln/>
        </p:spPr>
        <p:txBody>
          <a:bodyPr wrap="square" rtlCol="0" anchor="ctr"/>
          <a:lstStyle/>
          <a:p>
            <a:pPr indent="0" marL="0">
              <a:lnSpc>
                <a:spcPts val="1900"/>
              </a:lnSpc>
              <a:buNone/>
            </a:pPr>
            <a:r>
              <a:rPr lang="en-US" sz="1300" dirty="0">
                <a:solidFill>
                  <a:srgbClr val="2B2B2B"/>
                </a:solidFill>
                <a:latin typeface="Calibri" pitchFamily="34" charset="0"/>
                <a:ea typeface="Calibri" pitchFamily="34" charset="-122"/>
                <a:cs typeface="Calibri" pitchFamily="34" charset="-120"/>
              </a:rPr>
              <a:t>La region Plateaux concentre 20 des 53 forets classees (38 %), suivie de Kara (12) et Maritime (10). Les regions Centrale et Savanes, moins dotees, sont aussi celles ou la dependance au bois de chauffage pese le plus lourd sur un couvert forestier deja restreint.</a:t>
            </a:r>
            <a:endParaRPr lang="en-US" sz="1300" dirty="0"/>
          </a:p>
        </p:txBody>
      </p:sp>
      <p:sp>
        <p:nvSpPr>
          <p:cNvPr id="8" name="Text 5"/>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9" name="Text 6"/>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5F2D"/>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Recommandations</a:t>
            </a:r>
            <a:endParaRPr lang="en-US" sz="3000" dirty="0"/>
          </a:p>
        </p:txBody>
      </p:sp>
      <p:sp>
        <p:nvSpPr>
          <p:cNvPr id="3" name="Shape 1"/>
          <p:cNvSpPr/>
          <p:nvPr/>
        </p:nvSpPr>
        <p:spPr>
          <a:xfrm>
            <a:off x="548640" y="1371600"/>
            <a:ext cx="5486400" cy="2194560"/>
          </a:xfrm>
          <a:prstGeom prst="roundRect">
            <a:avLst>
              <a:gd name="adj" fmla="val 4167"/>
            </a:avLst>
          </a:prstGeom>
          <a:solidFill>
            <a:srgbClr val="234E25"/>
          </a:solidFill>
          <a:ln/>
        </p:spPr>
      </p:sp>
      <p:sp>
        <p:nvSpPr>
          <p:cNvPr id="4" name="Text 2"/>
          <p:cNvSpPr txBox="1"/>
          <p:nvPr/>
        </p:nvSpPr>
        <p:spPr>
          <a:xfrm>
            <a:off x="822960" y="1554480"/>
            <a:ext cx="4937760" cy="640080"/>
          </a:xfrm>
          <a:prstGeom prst="rect">
            <a:avLst/>
          </a:prstGeom>
          <a:noFill/>
          <a:ln/>
        </p:spPr>
        <p:txBody>
          <a:bodyPr wrap="square" rtlCol="0" anchor="ctr"/>
          <a:lstStyle/>
          <a:p>
            <a:pPr indent="0" marL="0">
              <a:lnSpc>
                <a:spcPts val="1800"/>
              </a:lnSpc>
              <a:buNone/>
            </a:pPr>
            <a:r>
              <a:rPr lang="en-US" sz="1500" b="1" dirty="0">
                <a:solidFill>
                  <a:srgbClr val="97BC62"/>
                </a:solidFill>
                <a:latin typeface="Cambria" pitchFamily="34" charset="0"/>
                <a:ea typeface="Cambria" pitchFamily="34" charset="-122"/>
                <a:cs typeface="Cambria" pitchFamily="34" charset="-120"/>
              </a:rPr>
              <a:t>1. Solaire decentralise en priorite Savanes / Kara</a:t>
            </a:r>
            <a:endParaRPr lang="en-US" sz="1500" dirty="0"/>
          </a:p>
        </p:txBody>
      </p:sp>
      <p:sp>
        <p:nvSpPr>
          <p:cNvPr id="5" name="Text 3"/>
          <p:cNvSpPr txBox="1"/>
          <p:nvPr/>
        </p:nvSpPr>
        <p:spPr>
          <a:xfrm>
            <a:off x="822960" y="2240280"/>
            <a:ext cx="4937760" cy="1188720"/>
          </a:xfrm>
          <a:prstGeom prst="rect">
            <a:avLst/>
          </a:prstGeom>
          <a:noFill/>
          <a:ln/>
        </p:spPr>
        <p:txBody>
          <a:bodyPr wrap="square" rtlCol="0" anchor="ctr"/>
          <a:lstStyle/>
          <a:p>
            <a:pPr indent="0" marL="0">
              <a:lnSpc>
                <a:spcPts val="1700"/>
              </a:lnSpc>
              <a:buNone/>
            </a:pPr>
            <a:r>
              <a:rPr lang="en-US" sz="1250" dirty="0">
                <a:solidFill>
                  <a:srgbClr val="E8F0E4"/>
                </a:solidFill>
                <a:latin typeface="Calibri" pitchFamily="34" charset="0"/>
                <a:ea typeface="Calibri" pitchFamily="34" charset="-122"/>
                <a:cs typeface="Calibri" pitchFamily="34" charset="-120"/>
              </a:rPr>
              <a:t>Cibler l'electrification rurale par kits solaires dans les regions ou l'ecart ville-campagne et la vulnerabilite forestiere se cumulent.</a:t>
            </a:r>
            <a:endParaRPr lang="en-US" sz="1250" dirty="0"/>
          </a:p>
        </p:txBody>
      </p:sp>
      <p:sp>
        <p:nvSpPr>
          <p:cNvPr id="6" name="Shape 4"/>
          <p:cNvSpPr/>
          <p:nvPr/>
        </p:nvSpPr>
        <p:spPr>
          <a:xfrm>
            <a:off x="6309360" y="1371600"/>
            <a:ext cx="5486400" cy="2194560"/>
          </a:xfrm>
          <a:prstGeom prst="roundRect">
            <a:avLst>
              <a:gd name="adj" fmla="val 4167"/>
            </a:avLst>
          </a:prstGeom>
          <a:solidFill>
            <a:srgbClr val="234E25"/>
          </a:solidFill>
          <a:ln/>
        </p:spPr>
      </p:sp>
      <p:sp>
        <p:nvSpPr>
          <p:cNvPr id="7" name="Text 5"/>
          <p:cNvSpPr txBox="1"/>
          <p:nvPr/>
        </p:nvSpPr>
        <p:spPr>
          <a:xfrm>
            <a:off x="6583680" y="1554480"/>
            <a:ext cx="4937760" cy="640080"/>
          </a:xfrm>
          <a:prstGeom prst="rect">
            <a:avLst/>
          </a:prstGeom>
          <a:noFill/>
          <a:ln/>
        </p:spPr>
        <p:txBody>
          <a:bodyPr wrap="square" rtlCol="0" anchor="ctr"/>
          <a:lstStyle/>
          <a:p>
            <a:pPr indent="0" marL="0">
              <a:lnSpc>
                <a:spcPts val="1800"/>
              </a:lnSpc>
              <a:buNone/>
            </a:pPr>
            <a:r>
              <a:rPr lang="en-US" sz="1500" b="1" dirty="0">
                <a:solidFill>
                  <a:srgbClr val="97BC62"/>
                </a:solidFill>
                <a:latin typeface="Cambria" pitchFamily="34" charset="0"/>
                <a:ea typeface="Cambria" pitchFamily="34" charset="-122"/>
                <a:cs typeface="Cambria" pitchFamily="34" charset="-120"/>
              </a:rPr>
              <a:t>2. Foyers de cuisson ameliores + subvention du gaz domestique</a:t>
            </a:r>
            <a:endParaRPr lang="en-US" sz="1500" dirty="0"/>
          </a:p>
        </p:txBody>
      </p:sp>
      <p:sp>
        <p:nvSpPr>
          <p:cNvPr id="8" name="Text 6"/>
          <p:cNvSpPr txBox="1"/>
          <p:nvPr/>
        </p:nvSpPr>
        <p:spPr>
          <a:xfrm>
            <a:off x="6583680" y="2240280"/>
            <a:ext cx="4937760" cy="1188720"/>
          </a:xfrm>
          <a:prstGeom prst="rect">
            <a:avLst/>
          </a:prstGeom>
          <a:noFill/>
          <a:ln/>
        </p:spPr>
        <p:txBody>
          <a:bodyPr wrap="square" rtlCol="0" anchor="ctr"/>
          <a:lstStyle/>
          <a:p>
            <a:pPr indent="0" marL="0">
              <a:lnSpc>
                <a:spcPts val="1700"/>
              </a:lnSpc>
              <a:buNone/>
            </a:pPr>
            <a:r>
              <a:rPr lang="en-US" sz="1250" dirty="0">
                <a:solidFill>
                  <a:srgbClr val="E8F0E4"/>
                </a:solidFill>
                <a:latin typeface="Calibri" pitchFamily="34" charset="0"/>
                <a:ea typeface="Calibri" pitchFamily="34" charset="-122"/>
                <a:cs typeface="Calibri" pitchFamily="34" charset="-120"/>
              </a:rPr>
              <a:t>Reduire la part du bois/charbon (89,4 % des menages) en rendant le LPG accessible financierement, en priorite pres des 53 forets classees.</a:t>
            </a:r>
            <a:endParaRPr lang="en-US" sz="1250" dirty="0"/>
          </a:p>
        </p:txBody>
      </p:sp>
      <p:sp>
        <p:nvSpPr>
          <p:cNvPr id="9" name="Shape 7"/>
          <p:cNvSpPr/>
          <p:nvPr/>
        </p:nvSpPr>
        <p:spPr>
          <a:xfrm>
            <a:off x="548640" y="3840480"/>
            <a:ext cx="5486400" cy="2194560"/>
          </a:xfrm>
          <a:prstGeom prst="roundRect">
            <a:avLst>
              <a:gd name="adj" fmla="val 4167"/>
            </a:avLst>
          </a:prstGeom>
          <a:solidFill>
            <a:srgbClr val="234E25"/>
          </a:solidFill>
          <a:ln/>
        </p:spPr>
      </p:sp>
      <p:sp>
        <p:nvSpPr>
          <p:cNvPr id="10" name="Text 8"/>
          <p:cNvSpPr txBox="1"/>
          <p:nvPr/>
        </p:nvSpPr>
        <p:spPr>
          <a:xfrm>
            <a:off x="822960" y="4023360"/>
            <a:ext cx="4937760" cy="640080"/>
          </a:xfrm>
          <a:prstGeom prst="rect">
            <a:avLst/>
          </a:prstGeom>
          <a:noFill/>
          <a:ln/>
        </p:spPr>
        <p:txBody>
          <a:bodyPr wrap="square" rtlCol="0" anchor="ctr"/>
          <a:lstStyle/>
          <a:p>
            <a:pPr indent="0" marL="0">
              <a:lnSpc>
                <a:spcPts val="1800"/>
              </a:lnSpc>
              <a:buNone/>
            </a:pPr>
            <a:r>
              <a:rPr lang="en-US" sz="1500" b="1" dirty="0">
                <a:solidFill>
                  <a:srgbClr val="97BC62"/>
                </a:solidFill>
                <a:latin typeface="Cambria" pitchFamily="34" charset="0"/>
                <a:ea typeface="Cambria" pitchFamily="34" charset="-122"/>
                <a:cs typeface="Cambria" pitchFamily="34" charset="-120"/>
              </a:rPr>
              <a:t>3. Reboisement cible dans les zones a faible couverture</a:t>
            </a:r>
            <a:endParaRPr lang="en-US" sz="1500" dirty="0"/>
          </a:p>
        </p:txBody>
      </p:sp>
      <p:sp>
        <p:nvSpPr>
          <p:cNvPr id="11" name="Text 9"/>
          <p:cNvSpPr txBox="1"/>
          <p:nvPr/>
        </p:nvSpPr>
        <p:spPr>
          <a:xfrm>
            <a:off x="822960" y="4709160"/>
            <a:ext cx="4937760" cy="1188720"/>
          </a:xfrm>
          <a:prstGeom prst="rect">
            <a:avLst/>
          </a:prstGeom>
          <a:noFill/>
          <a:ln/>
        </p:spPr>
        <p:txBody>
          <a:bodyPr wrap="square" rtlCol="0" anchor="ctr"/>
          <a:lstStyle/>
          <a:p>
            <a:pPr indent="0" marL="0">
              <a:lnSpc>
                <a:spcPts val="1700"/>
              </a:lnSpc>
              <a:buNone/>
            </a:pPr>
            <a:r>
              <a:rPr lang="en-US" sz="1250" dirty="0">
                <a:solidFill>
                  <a:srgbClr val="E8F0E4"/>
                </a:solidFill>
                <a:latin typeface="Calibri" pitchFamily="34" charset="0"/>
                <a:ea typeface="Calibri" pitchFamily="34" charset="-122"/>
                <a:cs typeface="Calibri" pitchFamily="34" charset="-120"/>
              </a:rPr>
              <a:t>Programmes de reboisement dans les regions Savanes et Centrale, ou le ratio forets classees / population est le plus faible.</a:t>
            </a:r>
            <a:endParaRPr lang="en-US" sz="1250" dirty="0"/>
          </a:p>
        </p:txBody>
      </p:sp>
      <p:sp>
        <p:nvSpPr>
          <p:cNvPr id="12" name="Shape 10"/>
          <p:cNvSpPr/>
          <p:nvPr/>
        </p:nvSpPr>
        <p:spPr>
          <a:xfrm>
            <a:off x="6309360" y="3840480"/>
            <a:ext cx="5486400" cy="2194560"/>
          </a:xfrm>
          <a:prstGeom prst="roundRect">
            <a:avLst>
              <a:gd name="adj" fmla="val 4167"/>
            </a:avLst>
          </a:prstGeom>
          <a:solidFill>
            <a:srgbClr val="234E25"/>
          </a:solidFill>
          <a:ln/>
        </p:spPr>
      </p:sp>
      <p:sp>
        <p:nvSpPr>
          <p:cNvPr id="13" name="Text 11"/>
          <p:cNvSpPr txBox="1"/>
          <p:nvPr/>
        </p:nvSpPr>
        <p:spPr>
          <a:xfrm>
            <a:off x="6583680" y="4023360"/>
            <a:ext cx="4937760" cy="640080"/>
          </a:xfrm>
          <a:prstGeom prst="rect">
            <a:avLst/>
          </a:prstGeom>
          <a:noFill/>
          <a:ln/>
        </p:spPr>
        <p:txBody>
          <a:bodyPr wrap="square" rtlCol="0" anchor="ctr"/>
          <a:lstStyle/>
          <a:p>
            <a:pPr indent="0" marL="0">
              <a:lnSpc>
                <a:spcPts val="1800"/>
              </a:lnSpc>
              <a:buNone/>
            </a:pPr>
            <a:r>
              <a:rPr lang="en-US" sz="1500" b="1" dirty="0">
                <a:solidFill>
                  <a:srgbClr val="97BC62"/>
                </a:solidFill>
                <a:latin typeface="Cambria" pitchFamily="34" charset="0"/>
                <a:ea typeface="Cambria" pitchFamily="34" charset="-122"/>
                <a:cs typeface="Cambria" pitchFamily="34" charset="-120"/>
              </a:rPr>
              <a:t>4. Suivi par tableau de bord regional</a:t>
            </a:r>
            <a:endParaRPr lang="en-US" sz="1500" dirty="0"/>
          </a:p>
        </p:txBody>
      </p:sp>
      <p:sp>
        <p:nvSpPr>
          <p:cNvPr id="14" name="Text 12"/>
          <p:cNvSpPr txBox="1"/>
          <p:nvPr/>
        </p:nvSpPr>
        <p:spPr>
          <a:xfrm>
            <a:off x="6583680" y="4709160"/>
            <a:ext cx="4937760" cy="1188720"/>
          </a:xfrm>
          <a:prstGeom prst="rect">
            <a:avLst/>
          </a:prstGeom>
          <a:noFill/>
          <a:ln/>
        </p:spPr>
        <p:txBody>
          <a:bodyPr wrap="square" rtlCol="0" anchor="ctr"/>
          <a:lstStyle/>
          <a:p>
            <a:pPr indent="0" marL="0">
              <a:lnSpc>
                <a:spcPts val="1700"/>
              </a:lnSpc>
              <a:buNone/>
            </a:pPr>
            <a:r>
              <a:rPr lang="en-US" sz="1250" dirty="0">
                <a:solidFill>
                  <a:srgbClr val="E8F0E4"/>
                </a:solidFill>
                <a:latin typeface="Calibri" pitchFamily="34" charset="0"/>
                <a:ea typeface="Calibri" pitchFamily="34" charset="-122"/>
                <a:cs typeface="Calibri" pitchFamily="34" charset="-120"/>
              </a:rPr>
              <a:t>Utiliser le dashboard interactif pour suivre, region par region, la progression de l'acces electrique et la pression sur les forets.</a:t>
            </a:r>
            <a:endParaRPr lang="en-US" sz="1250" dirty="0"/>
          </a:p>
        </p:txBody>
      </p:sp>
      <p:sp>
        <p:nvSpPr>
          <p:cNvPr id="15" name="Text 13"/>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16" name="Text 14"/>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indent="0" marL="0">
              <a:buNone/>
            </a:pPr>
            <a:r>
              <a:rPr lang="en-US" sz="3000" b="1" dirty="0">
                <a:solidFill>
                  <a:srgbClr val="2C5F2D"/>
                </a:solidFill>
                <a:latin typeface="Cambria" pitchFamily="34" charset="0"/>
                <a:ea typeface="Cambria" pitchFamily="34" charset="-122"/>
                <a:cs typeface="Cambria" pitchFamily="34" charset="-120"/>
              </a:rPr>
              <a:t>En synthese</a:t>
            </a:r>
            <a:endParaRPr lang="en-US" sz="3000" dirty="0"/>
          </a:p>
        </p:txBody>
      </p:sp>
      <p:sp>
        <p:nvSpPr>
          <p:cNvPr id="3" name="Shape 1"/>
          <p:cNvSpPr/>
          <p:nvPr/>
        </p:nvSpPr>
        <p:spPr>
          <a:xfrm>
            <a:off x="548640" y="1463040"/>
            <a:ext cx="109728" cy="457200"/>
          </a:xfrm>
          <a:prstGeom prst="rect">
            <a:avLst/>
          </a:prstGeom>
          <a:solidFill>
            <a:srgbClr val="2C5F2D"/>
          </a:solidFill>
          <a:ln/>
        </p:spPr>
      </p:sp>
      <p:sp>
        <p:nvSpPr>
          <p:cNvPr id="4" name="Text 2"/>
          <p:cNvSpPr txBox="1"/>
          <p:nvPr/>
        </p:nvSpPr>
        <p:spPr>
          <a:xfrm>
            <a:off x="914400" y="1417320"/>
            <a:ext cx="10607040" cy="822960"/>
          </a:xfrm>
          <a:prstGeom prst="rect">
            <a:avLst/>
          </a:prstGeom>
          <a:noFill/>
          <a:ln/>
        </p:spPr>
        <p:txBody>
          <a:bodyPr wrap="square" rtlCol="0" anchor="ctr"/>
          <a:lstStyle/>
          <a:p>
            <a:pPr indent="0" marL="0">
              <a:lnSpc>
                <a:spcPts val="1900"/>
              </a:lnSpc>
              <a:buNone/>
            </a:pPr>
            <a:r>
              <a:rPr lang="en-US" sz="1450" dirty="0">
                <a:solidFill>
                  <a:srgbClr val="2B2B2B"/>
                </a:solidFill>
                <a:latin typeface="Calibri" pitchFamily="34" charset="0"/>
                <a:ea typeface="Calibri" pitchFamily="34" charset="-122"/>
                <a:cs typeface="Calibri" pitchFamily="34" charset="-120"/>
              </a:rPr>
              <a:t>L'ecart d'electrification ville-campagne (71,5 points) reste le principal frein a l'objectif 2030.</a:t>
            </a:r>
            <a:endParaRPr lang="en-US" sz="1450" dirty="0"/>
          </a:p>
        </p:txBody>
      </p:sp>
      <p:sp>
        <p:nvSpPr>
          <p:cNvPr id="5" name="Shape 3"/>
          <p:cNvSpPr/>
          <p:nvPr/>
        </p:nvSpPr>
        <p:spPr>
          <a:xfrm>
            <a:off x="548640" y="2423160"/>
            <a:ext cx="109728" cy="457200"/>
          </a:xfrm>
          <a:prstGeom prst="rect">
            <a:avLst/>
          </a:prstGeom>
          <a:solidFill>
            <a:srgbClr val="E07A29"/>
          </a:solidFill>
          <a:ln/>
        </p:spPr>
      </p:sp>
      <p:sp>
        <p:nvSpPr>
          <p:cNvPr id="6" name="Text 4"/>
          <p:cNvSpPr txBox="1"/>
          <p:nvPr/>
        </p:nvSpPr>
        <p:spPr>
          <a:xfrm>
            <a:off x="914400" y="2377440"/>
            <a:ext cx="10607040" cy="822960"/>
          </a:xfrm>
          <a:prstGeom prst="rect">
            <a:avLst/>
          </a:prstGeom>
          <a:noFill/>
          <a:ln/>
        </p:spPr>
        <p:txBody>
          <a:bodyPr wrap="square" rtlCol="0" anchor="ctr"/>
          <a:lstStyle/>
          <a:p>
            <a:pPr indent="0" marL="0">
              <a:lnSpc>
                <a:spcPts val="1900"/>
              </a:lnSpc>
              <a:buNone/>
            </a:pPr>
            <a:r>
              <a:rPr lang="en-US" sz="1450" dirty="0">
                <a:solidFill>
                  <a:srgbClr val="2B2B2B"/>
                </a:solidFill>
                <a:latin typeface="Calibri" pitchFamily="34" charset="0"/>
                <a:ea typeface="Calibri" pitchFamily="34" charset="-122"/>
                <a:cs typeface="Calibri" pitchFamily="34" charset="-120"/>
              </a:rPr>
              <a:t>89,4 % des menages dependent du bois ou du charbon pour cuisiner — la vraie transition energetique passe par la cuisson, pas seulement par l'electricite.</a:t>
            </a:r>
            <a:endParaRPr lang="en-US" sz="1450" dirty="0"/>
          </a:p>
        </p:txBody>
      </p:sp>
      <p:sp>
        <p:nvSpPr>
          <p:cNvPr id="7" name="Shape 5"/>
          <p:cNvSpPr/>
          <p:nvPr/>
        </p:nvSpPr>
        <p:spPr>
          <a:xfrm>
            <a:off x="548640" y="3383280"/>
            <a:ext cx="109728" cy="457200"/>
          </a:xfrm>
          <a:prstGeom prst="rect">
            <a:avLst/>
          </a:prstGeom>
          <a:solidFill>
            <a:srgbClr val="2C5F2D"/>
          </a:solidFill>
          <a:ln/>
        </p:spPr>
      </p:sp>
      <p:sp>
        <p:nvSpPr>
          <p:cNvPr id="8" name="Text 6"/>
          <p:cNvSpPr txBox="1"/>
          <p:nvPr/>
        </p:nvSpPr>
        <p:spPr>
          <a:xfrm>
            <a:off x="914400" y="3337560"/>
            <a:ext cx="10607040" cy="822960"/>
          </a:xfrm>
          <a:prstGeom prst="rect">
            <a:avLst/>
          </a:prstGeom>
          <a:noFill/>
          <a:ln/>
        </p:spPr>
        <p:txBody>
          <a:bodyPr wrap="square" rtlCol="0" anchor="ctr"/>
          <a:lstStyle/>
          <a:p>
            <a:pPr indent="0" marL="0">
              <a:lnSpc>
                <a:spcPts val="1900"/>
              </a:lnSpc>
              <a:buNone/>
            </a:pPr>
            <a:r>
              <a:rPr lang="en-US" sz="1450" dirty="0">
                <a:solidFill>
                  <a:srgbClr val="2B2B2B"/>
                </a:solidFill>
                <a:latin typeface="Calibri" pitchFamily="34" charset="0"/>
                <a:ea typeface="Calibri" pitchFamily="34" charset="-122"/>
                <a:cs typeface="Calibri" pitchFamily="34" charset="-120"/>
              </a:rPr>
              <a:t>Les emissions de GES du Togo viennent a 87,7 % du secteur AFAT (foret/terres), pas de l'energie : proteger les forets est un enjeu climatique de premier plan.</a:t>
            </a:r>
            <a:endParaRPr lang="en-US" sz="1450" dirty="0"/>
          </a:p>
        </p:txBody>
      </p:sp>
      <p:sp>
        <p:nvSpPr>
          <p:cNvPr id="9" name="Shape 7"/>
          <p:cNvSpPr/>
          <p:nvPr/>
        </p:nvSpPr>
        <p:spPr>
          <a:xfrm>
            <a:off x="548640" y="4343400"/>
            <a:ext cx="109728" cy="457200"/>
          </a:xfrm>
          <a:prstGeom prst="rect">
            <a:avLst/>
          </a:prstGeom>
          <a:solidFill>
            <a:srgbClr val="E07A29"/>
          </a:solidFill>
          <a:ln/>
        </p:spPr>
      </p:sp>
      <p:sp>
        <p:nvSpPr>
          <p:cNvPr id="10" name="Text 8"/>
          <p:cNvSpPr txBox="1"/>
          <p:nvPr/>
        </p:nvSpPr>
        <p:spPr>
          <a:xfrm>
            <a:off x="914400" y="4297680"/>
            <a:ext cx="10607040" cy="822960"/>
          </a:xfrm>
          <a:prstGeom prst="rect">
            <a:avLst/>
          </a:prstGeom>
          <a:noFill/>
          <a:ln/>
        </p:spPr>
        <p:txBody>
          <a:bodyPr wrap="square" rtlCol="0" anchor="ctr"/>
          <a:lstStyle/>
          <a:p>
            <a:pPr indent="0" marL="0">
              <a:lnSpc>
                <a:spcPts val="1900"/>
              </a:lnSpc>
              <a:buNone/>
            </a:pPr>
            <a:r>
              <a:rPr lang="en-US" sz="1450" dirty="0">
                <a:solidFill>
                  <a:srgbClr val="2B2B2B"/>
                </a:solidFill>
                <a:latin typeface="Calibri" pitchFamily="34" charset="0"/>
                <a:ea typeface="Calibri" pitchFamily="34" charset="-122"/>
                <a:cs typeface="Calibri" pitchFamily="34" charset="-120"/>
              </a:rPr>
              <a:t>Les regions Savanes et Kara cumulent chaleur elevee, faible couverture forestiere et fort retard d'electrification — elles doivent etre la priorite d'intervention.</a:t>
            </a:r>
            <a:endParaRPr lang="en-US" sz="1450" dirty="0"/>
          </a:p>
        </p:txBody>
      </p:sp>
      <p:sp>
        <p:nvSpPr>
          <p:cNvPr id="11" name="Shape 9"/>
          <p:cNvSpPr/>
          <p:nvPr/>
        </p:nvSpPr>
        <p:spPr>
          <a:xfrm>
            <a:off x="548640" y="5440680"/>
            <a:ext cx="11064240" cy="822960"/>
          </a:xfrm>
          <a:prstGeom prst="roundRect">
            <a:avLst>
              <a:gd name="adj" fmla="val 11111"/>
            </a:avLst>
          </a:prstGeom>
          <a:solidFill>
            <a:srgbClr val="F5F5F0"/>
          </a:solidFill>
          <a:ln/>
        </p:spPr>
      </p:sp>
      <p:sp>
        <p:nvSpPr>
          <p:cNvPr id="12" name="Text 10"/>
          <p:cNvSpPr txBox="1"/>
          <p:nvPr/>
        </p:nvSpPr>
        <p:spPr>
          <a:xfrm>
            <a:off x="822960" y="5577840"/>
            <a:ext cx="10515600" cy="548640"/>
          </a:xfrm>
          <a:prstGeom prst="rect">
            <a:avLst/>
          </a:prstGeom>
          <a:noFill/>
          <a:ln/>
        </p:spPr>
        <p:txBody>
          <a:bodyPr wrap="square"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Livrable associe : tableau de bord interactif Streamlit (filtres region/ville, carte des 53 forets) — depot GitHub joint a la soumission.</a:t>
            </a:r>
            <a:endParaRPr lang="en-US" sz="1250" dirty="0"/>
          </a:p>
        </p:txBody>
      </p:sp>
      <p:sp>
        <p:nvSpPr>
          <p:cNvPr id="13" name="Text 11"/>
          <p:cNvSpPr txBox="1"/>
          <p:nvPr/>
        </p:nvSpPr>
        <p:spPr>
          <a:xfrm>
            <a:off x="457200" y="6537960"/>
            <a:ext cx="5486400" cy="27432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Defi 2 Environnement — Togo AI Lab</a:t>
            </a:r>
            <a:endParaRPr lang="en-US" sz="900" dirty="0"/>
          </a:p>
        </p:txBody>
      </p:sp>
      <p:sp>
        <p:nvSpPr>
          <p:cNvPr id="14" name="Text 12"/>
          <p:cNvSpPr txBox="1"/>
          <p:nvPr/>
        </p:nvSpPr>
        <p:spPr>
          <a:xfrm>
            <a:off x="11430000" y="6537960"/>
            <a:ext cx="365760" cy="274320"/>
          </a:xfrm>
          <a:prstGeom prst="rect">
            <a:avLst/>
          </a:prstGeom>
          <a:noFill/>
          <a:ln/>
        </p:spPr>
        <p:txBody>
          <a:bodyPr wrap="square"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2026-08-26T21:53:06Z</dcterms:created>
  <dcterms:modified xsi:type="dcterms:W3CDTF">2026-08-26T21:53:06Z</dcterms:modified>
</cp:coreProperties>
</file>